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comments/modernComment_1FA_A0CF4871.xml" ContentType="application/vnd.ms-powerpoint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202_3B0D9309.xml" ContentType="application/vnd.ms-powerpoint.comments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37"/>
  </p:notesMasterIdLst>
  <p:sldIdLst>
    <p:sldId id="517" r:id="rId5"/>
    <p:sldId id="447" r:id="rId6"/>
    <p:sldId id="328" r:id="rId7"/>
    <p:sldId id="445" r:id="rId8"/>
    <p:sldId id="487" r:id="rId9"/>
    <p:sldId id="510" r:id="rId10"/>
    <p:sldId id="513" r:id="rId11"/>
    <p:sldId id="489" r:id="rId12"/>
    <p:sldId id="444" r:id="rId13"/>
    <p:sldId id="417" r:id="rId14"/>
    <p:sldId id="498" r:id="rId15"/>
    <p:sldId id="500" r:id="rId16"/>
    <p:sldId id="499" r:id="rId17"/>
    <p:sldId id="497" r:id="rId18"/>
    <p:sldId id="501" r:id="rId19"/>
    <p:sldId id="502" r:id="rId20"/>
    <p:sldId id="503" r:id="rId21"/>
    <p:sldId id="496" r:id="rId22"/>
    <p:sldId id="495" r:id="rId23"/>
    <p:sldId id="429" r:id="rId24"/>
    <p:sldId id="492" r:id="rId25"/>
    <p:sldId id="434" r:id="rId26"/>
    <p:sldId id="432" r:id="rId27"/>
    <p:sldId id="418" r:id="rId28"/>
    <p:sldId id="506" r:id="rId29"/>
    <p:sldId id="421" r:id="rId30"/>
    <p:sldId id="511" r:id="rId31"/>
    <p:sldId id="512" r:id="rId32"/>
    <p:sldId id="514" r:id="rId33"/>
    <p:sldId id="316" r:id="rId34"/>
    <p:sldId id="392" r:id="rId35"/>
    <p:sldId id="31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984B6F-7BAB-2196-7642-FD05B750CA9E}" name="Thomas Zamin" initials="TZ" userId="S::21taz2@queensu.ca::757d1073-6adb-45c6-9cc8-399ab01d8f23" providerId="AD"/>
  <p188:author id="{559D83A2-E4D8-2817-F1FA-8F29ABE44472}" name="Saman Saeidi" initials="SS" userId="S::19ss228@queensu.ca::eddc0328-d632-4856-a8cd-86669d4ad0dc" providerId="AD"/>
  <p188:author id="{705B1FF9-5FD1-0661-6B52-0F8919A1A3A1}" name="Claire Hu" initials="" userId="S::21cth4@queensu.ca::6f03777b-3963-4b13-ad9c-9e80976a097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rey Ko" initials="CK" lastIdx="7" clrIdx="0">
    <p:extLst>
      <p:ext uri="{19B8F6BF-5375-455C-9EA6-DF929625EA0E}">
        <p15:presenceInfo xmlns:p15="http://schemas.microsoft.com/office/powerpoint/2012/main" userId="Corey K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1F34"/>
    <a:srgbClr val="FABD12"/>
    <a:srgbClr val="182650"/>
    <a:srgbClr val="FFFFFF"/>
    <a:srgbClr val="044F85"/>
    <a:srgbClr val="31C1EE"/>
    <a:srgbClr val="0C6FAE"/>
    <a:srgbClr val="9EDBFB"/>
    <a:srgbClr val="DFF9FE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45C8DE-01DB-4A7B-6469-F68FA1C72639}" v="13" dt="2025-05-31T01:40:39.717"/>
    <p1510:client id="{3B23CE84-AAC3-4C2C-B7DA-B29DE3AAB274}" v="57" dt="2025-05-31T03:46:18.131"/>
    <p1510:client id="{4FBFADFA-EF2D-45CE-9564-913802691A6B}" v="32" dt="2025-05-31T03:46:28.220"/>
    <p1510:client id="{872A0E44-C6EB-874D-8DB1-586A2D300728}" v="1828" dt="2025-05-31T14:48:34.597"/>
    <p1510:client id="{B5AB778F-55B3-FB9F-A9E4-739D8DF8D0F0}" v="233" dt="2025-05-31T01:06:25.350"/>
    <p1510:client id="{F797AA66-B4DE-168E-60C7-2E8B180ECD5C}" v="64" dt="2025-05-31T14:27:58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75"/>
  </p:normalViewPr>
  <p:slideViewPr>
    <p:cSldViewPr snapToGrid="0">
      <p:cViewPr varScale="1">
        <p:scale>
          <a:sx n="119" d="100"/>
          <a:sy n="119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comments/modernComment_1FA_A0CF48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E72665-BD67-4F3F-A0C7-8039BAA01991}" authorId="{3C984B6F-7BAB-2196-7642-FD05B750CA9E}" created="2025-05-31T03:40:18.777">
    <pc:sldMkLst xmlns:pc="http://schemas.microsoft.com/office/powerpoint/2013/main/command">
      <pc:docMk/>
      <pc:sldMk cId="2697939057" sldId="506"/>
    </pc:sldMkLst>
    <p188:txBody>
      <a:bodyPr/>
      <a:lstStyle/>
      <a:p>
        <a:r>
          <a:rPr lang="en-CA"/>
          <a:t>Some kind of text saying that this is the simulation overview</a:t>
        </a:r>
      </a:p>
    </p188:txBody>
  </p188:cm>
</p188:cmLst>
</file>

<file path=ppt/comments/modernComment_202_3B0D930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14F00C-D188-4DF5-B4F7-91F091FBAE42}" authorId="{3C984B6F-7BAB-2196-7642-FD05B750CA9E}" created="2025-05-31T03:42:02.001">
    <pc:sldMkLst xmlns:pc="http://schemas.microsoft.com/office/powerpoint/2013/main/command">
      <pc:docMk/>
      <pc:sldMk cId="990745353" sldId="514"/>
    </pc:sldMkLst>
    <p188:txBody>
      <a:bodyPr/>
      <a:lstStyle/>
      <a:p>
        <a:r>
          <a:rPr lang="en-CA"/>
          <a:t>Need some concluding remarks. What went well, what are some next steps for the project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E39C8-59BA-F642-83E8-FBAA20C36015}" type="doc">
      <dgm:prSet loTypeId="urn:microsoft.com/office/officeart/2005/8/layout/cycle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E02713-1AE6-4E44-86F8-35AB56E6FAC2}">
      <dgm:prSet phldrT="[Text]"/>
      <dgm:spPr>
        <a:solidFill>
          <a:srgbClr val="182650"/>
        </a:solidFill>
      </dgm:spPr>
      <dgm:t>
        <a:bodyPr/>
        <a:lstStyle/>
        <a:p>
          <a:r>
            <a:rPr lang="en-US"/>
            <a:t>Error Signal</a:t>
          </a:r>
        </a:p>
      </dgm:t>
    </dgm:pt>
    <dgm:pt modelId="{B6EFF895-3C2B-0441-8EE5-8728F4B3792F}" type="parTrans" cxnId="{DAE1AD62-5353-CF49-8041-556EBD2BC5D5}">
      <dgm:prSet/>
      <dgm:spPr/>
      <dgm:t>
        <a:bodyPr/>
        <a:lstStyle/>
        <a:p>
          <a:endParaRPr lang="en-US"/>
        </a:p>
      </dgm:t>
    </dgm:pt>
    <dgm:pt modelId="{495AAEF7-572B-7E45-8F1A-1476BF6EC414}" type="sibTrans" cxnId="{DAE1AD62-5353-CF49-8041-556EBD2BC5D5}">
      <dgm:prSet/>
      <dgm:spPr>
        <a:solidFill>
          <a:srgbClr val="BA1F34"/>
        </a:solidFill>
      </dgm:spPr>
      <dgm:t>
        <a:bodyPr/>
        <a:lstStyle/>
        <a:p>
          <a:endParaRPr lang="en-US"/>
        </a:p>
      </dgm:t>
    </dgm:pt>
    <dgm:pt modelId="{4B633425-8DAB-5F41-8707-30689ADB6B8E}">
      <dgm:prSet phldrT="[Text]"/>
      <dgm:spPr>
        <a:solidFill>
          <a:srgbClr val="182650"/>
        </a:solidFill>
      </dgm:spPr>
      <dgm:t>
        <a:bodyPr/>
        <a:lstStyle/>
        <a:p>
          <a:r>
            <a:rPr lang="en-US"/>
            <a:t>PID Controller</a:t>
          </a:r>
        </a:p>
      </dgm:t>
    </dgm:pt>
    <dgm:pt modelId="{CFC1CC9C-6900-BF4F-898E-42583517AFAB}" type="parTrans" cxnId="{204DF0E8-EC6B-3D49-AFDC-166630DE6FFC}">
      <dgm:prSet/>
      <dgm:spPr/>
      <dgm:t>
        <a:bodyPr/>
        <a:lstStyle/>
        <a:p>
          <a:endParaRPr lang="en-US"/>
        </a:p>
      </dgm:t>
    </dgm:pt>
    <dgm:pt modelId="{447D7CC7-E7B1-AF41-B340-4BDABAEDD49B}" type="sibTrans" cxnId="{204DF0E8-EC6B-3D49-AFDC-166630DE6FFC}">
      <dgm:prSet/>
      <dgm:spPr>
        <a:solidFill>
          <a:srgbClr val="BA1F34"/>
        </a:solidFill>
      </dgm:spPr>
      <dgm:t>
        <a:bodyPr/>
        <a:lstStyle/>
        <a:p>
          <a:endParaRPr lang="en-US"/>
        </a:p>
      </dgm:t>
    </dgm:pt>
    <dgm:pt modelId="{23CACCB7-C673-6B4A-8E9A-3715A38542D7}">
      <dgm:prSet phldrT="[Text]"/>
      <dgm:spPr>
        <a:solidFill>
          <a:srgbClr val="182650"/>
        </a:solidFill>
      </dgm:spPr>
      <dgm:t>
        <a:bodyPr/>
        <a:lstStyle/>
        <a:p>
          <a:r>
            <a:rPr lang="en-US"/>
            <a:t>Plant</a:t>
          </a:r>
        </a:p>
      </dgm:t>
    </dgm:pt>
    <dgm:pt modelId="{6CB83B27-BAEA-7B48-946B-4BBA0B5F4F11}" type="parTrans" cxnId="{DE8E17B9-3910-0949-AEDC-1A57DBE592F1}">
      <dgm:prSet/>
      <dgm:spPr/>
      <dgm:t>
        <a:bodyPr/>
        <a:lstStyle/>
        <a:p>
          <a:endParaRPr lang="en-US"/>
        </a:p>
      </dgm:t>
    </dgm:pt>
    <dgm:pt modelId="{A02B385B-2624-FA42-8164-2EA1CC506DFA}" type="sibTrans" cxnId="{DE8E17B9-3910-0949-AEDC-1A57DBE592F1}">
      <dgm:prSet/>
      <dgm:spPr>
        <a:solidFill>
          <a:srgbClr val="BA1F34"/>
        </a:solidFill>
      </dgm:spPr>
      <dgm:t>
        <a:bodyPr/>
        <a:lstStyle/>
        <a:p>
          <a:endParaRPr lang="en-US"/>
        </a:p>
      </dgm:t>
    </dgm:pt>
    <dgm:pt modelId="{91D498AA-3322-9542-BB4F-F67705AF7851}">
      <dgm:prSet phldrT="[Text]"/>
      <dgm:spPr>
        <a:solidFill>
          <a:srgbClr val="182650"/>
        </a:solidFill>
      </dgm:spPr>
      <dgm:t>
        <a:bodyPr/>
        <a:lstStyle/>
        <a:p>
          <a:r>
            <a:rPr lang="en-US"/>
            <a:t>Output Signal</a:t>
          </a:r>
        </a:p>
      </dgm:t>
    </dgm:pt>
    <dgm:pt modelId="{577F1554-FE16-6841-B828-281C1B686F3E}" type="parTrans" cxnId="{0C0C0CAD-C1CA-644C-9D08-FD73E4B35656}">
      <dgm:prSet/>
      <dgm:spPr/>
      <dgm:t>
        <a:bodyPr/>
        <a:lstStyle/>
        <a:p>
          <a:endParaRPr lang="en-US"/>
        </a:p>
      </dgm:t>
    </dgm:pt>
    <dgm:pt modelId="{EC48D7E8-0FDB-FA4A-89A5-7725E10563E8}" type="sibTrans" cxnId="{0C0C0CAD-C1CA-644C-9D08-FD73E4B35656}">
      <dgm:prSet/>
      <dgm:spPr>
        <a:solidFill>
          <a:srgbClr val="BA1F34"/>
        </a:solidFill>
      </dgm:spPr>
      <dgm:t>
        <a:bodyPr/>
        <a:lstStyle/>
        <a:p>
          <a:endParaRPr lang="en-US"/>
        </a:p>
      </dgm:t>
    </dgm:pt>
    <dgm:pt modelId="{A544EB13-5972-8540-9C12-10A83DB11AD8}" type="pres">
      <dgm:prSet presAssocID="{3DEE39C8-59BA-F642-83E8-FBAA20C36015}" presName="Name0" presStyleCnt="0">
        <dgm:presLayoutVars>
          <dgm:dir/>
          <dgm:resizeHandles val="exact"/>
        </dgm:presLayoutVars>
      </dgm:prSet>
      <dgm:spPr/>
    </dgm:pt>
    <dgm:pt modelId="{173899EA-DEF7-1240-9D36-DB318E434245}" type="pres">
      <dgm:prSet presAssocID="{3DEE39C8-59BA-F642-83E8-FBAA20C36015}" presName="cycle" presStyleCnt="0"/>
      <dgm:spPr/>
    </dgm:pt>
    <dgm:pt modelId="{306738C8-21B4-AA4B-BE89-EB79112B9C5B}" type="pres">
      <dgm:prSet presAssocID="{16E02713-1AE6-4E44-86F8-35AB56E6FAC2}" presName="nodeFirstNode" presStyleLbl="node1" presStyleIdx="0" presStyleCnt="4">
        <dgm:presLayoutVars>
          <dgm:bulletEnabled val="1"/>
        </dgm:presLayoutVars>
      </dgm:prSet>
      <dgm:spPr/>
    </dgm:pt>
    <dgm:pt modelId="{926D7318-0BCA-2A4B-BFBF-12653FA36F3B}" type="pres">
      <dgm:prSet presAssocID="{495AAEF7-572B-7E45-8F1A-1476BF6EC414}" presName="sibTransFirstNode" presStyleLbl="bgShp" presStyleIdx="0" presStyleCnt="1"/>
      <dgm:spPr/>
    </dgm:pt>
    <dgm:pt modelId="{9397B9AC-851D-0343-B93D-7039AD43DA06}" type="pres">
      <dgm:prSet presAssocID="{4B633425-8DAB-5F41-8707-30689ADB6B8E}" presName="nodeFollowingNodes" presStyleLbl="node1" presStyleIdx="1" presStyleCnt="4">
        <dgm:presLayoutVars>
          <dgm:bulletEnabled val="1"/>
        </dgm:presLayoutVars>
      </dgm:prSet>
      <dgm:spPr/>
    </dgm:pt>
    <dgm:pt modelId="{53D6802E-3A66-2F40-BECD-DB0D2E042D9E}" type="pres">
      <dgm:prSet presAssocID="{23CACCB7-C673-6B4A-8E9A-3715A38542D7}" presName="nodeFollowingNodes" presStyleLbl="node1" presStyleIdx="2" presStyleCnt="4">
        <dgm:presLayoutVars>
          <dgm:bulletEnabled val="1"/>
        </dgm:presLayoutVars>
      </dgm:prSet>
      <dgm:spPr/>
    </dgm:pt>
    <dgm:pt modelId="{B15189D7-4FDA-F747-9DDA-0DAC1DFCBA3D}" type="pres">
      <dgm:prSet presAssocID="{91D498AA-3322-9542-BB4F-F67705AF7851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8356FE0E-FCAB-4B41-BB8C-D1EFDBDF442A}" type="presOf" srcId="{91D498AA-3322-9542-BB4F-F67705AF7851}" destId="{B15189D7-4FDA-F747-9DDA-0DAC1DFCBA3D}" srcOrd="0" destOrd="0" presId="urn:microsoft.com/office/officeart/2005/8/layout/cycle3"/>
    <dgm:cxn modelId="{DAE1AD62-5353-CF49-8041-556EBD2BC5D5}" srcId="{3DEE39C8-59BA-F642-83E8-FBAA20C36015}" destId="{16E02713-1AE6-4E44-86F8-35AB56E6FAC2}" srcOrd="0" destOrd="0" parTransId="{B6EFF895-3C2B-0441-8EE5-8728F4B3792F}" sibTransId="{495AAEF7-572B-7E45-8F1A-1476BF6EC414}"/>
    <dgm:cxn modelId="{EE562673-DA86-7A4C-962A-D2761C10E72C}" type="presOf" srcId="{23CACCB7-C673-6B4A-8E9A-3715A38542D7}" destId="{53D6802E-3A66-2F40-BECD-DB0D2E042D9E}" srcOrd="0" destOrd="0" presId="urn:microsoft.com/office/officeart/2005/8/layout/cycle3"/>
    <dgm:cxn modelId="{69083D7F-A7B0-4D43-8B95-E43C571C81E3}" type="presOf" srcId="{16E02713-1AE6-4E44-86F8-35AB56E6FAC2}" destId="{306738C8-21B4-AA4B-BE89-EB79112B9C5B}" srcOrd="0" destOrd="0" presId="urn:microsoft.com/office/officeart/2005/8/layout/cycle3"/>
    <dgm:cxn modelId="{F1B9AC86-CFC9-3549-9F4A-C582EC62F3B4}" type="presOf" srcId="{495AAEF7-572B-7E45-8F1A-1476BF6EC414}" destId="{926D7318-0BCA-2A4B-BFBF-12653FA36F3B}" srcOrd="0" destOrd="0" presId="urn:microsoft.com/office/officeart/2005/8/layout/cycle3"/>
    <dgm:cxn modelId="{0C0C0CAD-C1CA-644C-9D08-FD73E4B35656}" srcId="{3DEE39C8-59BA-F642-83E8-FBAA20C36015}" destId="{91D498AA-3322-9542-BB4F-F67705AF7851}" srcOrd="3" destOrd="0" parTransId="{577F1554-FE16-6841-B828-281C1B686F3E}" sibTransId="{EC48D7E8-0FDB-FA4A-89A5-7725E10563E8}"/>
    <dgm:cxn modelId="{DE8E17B9-3910-0949-AEDC-1A57DBE592F1}" srcId="{3DEE39C8-59BA-F642-83E8-FBAA20C36015}" destId="{23CACCB7-C673-6B4A-8E9A-3715A38542D7}" srcOrd="2" destOrd="0" parTransId="{6CB83B27-BAEA-7B48-946B-4BBA0B5F4F11}" sibTransId="{A02B385B-2624-FA42-8164-2EA1CC506DFA}"/>
    <dgm:cxn modelId="{4BA76BD2-540D-A244-98B4-2031377248E3}" type="presOf" srcId="{3DEE39C8-59BA-F642-83E8-FBAA20C36015}" destId="{A544EB13-5972-8540-9C12-10A83DB11AD8}" srcOrd="0" destOrd="0" presId="urn:microsoft.com/office/officeart/2005/8/layout/cycle3"/>
    <dgm:cxn modelId="{FFC5ECE7-0385-BC4F-8AB7-12238DD2B7B5}" type="presOf" srcId="{4B633425-8DAB-5F41-8707-30689ADB6B8E}" destId="{9397B9AC-851D-0343-B93D-7039AD43DA06}" srcOrd="0" destOrd="0" presId="urn:microsoft.com/office/officeart/2005/8/layout/cycle3"/>
    <dgm:cxn modelId="{204DF0E8-EC6B-3D49-AFDC-166630DE6FFC}" srcId="{3DEE39C8-59BA-F642-83E8-FBAA20C36015}" destId="{4B633425-8DAB-5F41-8707-30689ADB6B8E}" srcOrd="1" destOrd="0" parTransId="{CFC1CC9C-6900-BF4F-898E-42583517AFAB}" sibTransId="{447D7CC7-E7B1-AF41-B340-4BDABAEDD49B}"/>
    <dgm:cxn modelId="{1C32802D-AB59-0A42-A058-22404F7496F4}" type="presParOf" srcId="{A544EB13-5972-8540-9C12-10A83DB11AD8}" destId="{173899EA-DEF7-1240-9D36-DB318E434245}" srcOrd="0" destOrd="0" presId="urn:microsoft.com/office/officeart/2005/8/layout/cycle3"/>
    <dgm:cxn modelId="{BE580C78-770A-9848-93F1-612B1D7C94E7}" type="presParOf" srcId="{173899EA-DEF7-1240-9D36-DB318E434245}" destId="{306738C8-21B4-AA4B-BE89-EB79112B9C5B}" srcOrd="0" destOrd="0" presId="urn:microsoft.com/office/officeart/2005/8/layout/cycle3"/>
    <dgm:cxn modelId="{84686D2F-649D-A74A-8084-453AADCECD2A}" type="presParOf" srcId="{173899EA-DEF7-1240-9D36-DB318E434245}" destId="{926D7318-0BCA-2A4B-BFBF-12653FA36F3B}" srcOrd="1" destOrd="0" presId="urn:microsoft.com/office/officeart/2005/8/layout/cycle3"/>
    <dgm:cxn modelId="{ECAB9A0F-DC5E-8148-A8D5-C4ACFE858E71}" type="presParOf" srcId="{173899EA-DEF7-1240-9D36-DB318E434245}" destId="{9397B9AC-851D-0343-B93D-7039AD43DA06}" srcOrd="2" destOrd="0" presId="urn:microsoft.com/office/officeart/2005/8/layout/cycle3"/>
    <dgm:cxn modelId="{8A871465-FED0-1E45-9D40-8174C15D3055}" type="presParOf" srcId="{173899EA-DEF7-1240-9D36-DB318E434245}" destId="{53D6802E-3A66-2F40-BECD-DB0D2E042D9E}" srcOrd="3" destOrd="0" presId="urn:microsoft.com/office/officeart/2005/8/layout/cycle3"/>
    <dgm:cxn modelId="{9C255016-A18C-6C4B-B734-3CC8D20D7247}" type="presParOf" srcId="{173899EA-DEF7-1240-9D36-DB318E434245}" destId="{B15189D7-4FDA-F747-9DDA-0DAC1DFCBA3D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D7318-0BCA-2A4B-BFBF-12653FA36F3B}">
      <dsp:nvSpPr>
        <dsp:cNvPr id="0" name=""/>
        <dsp:cNvSpPr/>
      </dsp:nvSpPr>
      <dsp:spPr>
        <a:xfrm>
          <a:off x="485635" y="249112"/>
          <a:ext cx="3031433" cy="3031433"/>
        </a:xfrm>
        <a:prstGeom prst="circularArrow">
          <a:avLst>
            <a:gd name="adj1" fmla="val 4668"/>
            <a:gd name="adj2" fmla="val 272909"/>
            <a:gd name="adj3" fmla="val 13195075"/>
            <a:gd name="adj4" fmla="val 17788109"/>
            <a:gd name="adj5" fmla="val 4847"/>
          </a:avLst>
        </a:prstGeom>
        <a:solidFill>
          <a:srgbClr val="BA1F3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738C8-21B4-AA4B-BE89-EB79112B9C5B}">
      <dsp:nvSpPr>
        <dsp:cNvPr id="0" name=""/>
        <dsp:cNvSpPr/>
      </dsp:nvSpPr>
      <dsp:spPr>
        <a:xfrm>
          <a:off x="1088626" y="284785"/>
          <a:ext cx="1825452" cy="912726"/>
        </a:xfrm>
        <a:prstGeom prst="roundRect">
          <a:avLst/>
        </a:prstGeom>
        <a:solidFill>
          <a:srgbClr val="1826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Error Signal</a:t>
          </a:r>
        </a:p>
      </dsp:txBody>
      <dsp:txXfrm>
        <a:off x="1133182" y="329341"/>
        <a:ext cx="1736340" cy="823614"/>
      </dsp:txXfrm>
    </dsp:sp>
    <dsp:sp modelId="{9397B9AC-851D-0343-B93D-7039AD43DA06}">
      <dsp:nvSpPr>
        <dsp:cNvPr id="0" name=""/>
        <dsp:cNvSpPr/>
      </dsp:nvSpPr>
      <dsp:spPr>
        <a:xfrm>
          <a:off x="2177112" y="1373271"/>
          <a:ext cx="1825452" cy="912726"/>
        </a:xfrm>
        <a:prstGeom prst="roundRect">
          <a:avLst/>
        </a:prstGeom>
        <a:solidFill>
          <a:srgbClr val="1826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PID Controller</a:t>
          </a:r>
        </a:p>
      </dsp:txBody>
      <dsp:txXfrm>
        <a:off x="2221668" y="1417827"/>
        <a:ext cx="1736340" cy="823614"/>
      </dsp:txXfrm>
    </dsp:sp>
    <dsp:sp modelId="{53D6802E-3A66-2F40-BECD-DB0D2E042D9E}">
      <dsp:nvSpPr>
        <dsp:cNvPr id="0" name=""/>
        <dsp:cNvSpPr/>
      </dsp:nvSpPr>
      <dsp:spPr>
        <a:xfrm>
          <a:off x="1088626" y="2461757"/>
          <a:ext cx="1825452" cy="912726"/>
        </a:xfrm>
        <a:prstGeom prst="roundRect">
          <a:avLst/>
        </a:prstGeom>
        <a:solidFill>
          <a:srgbClr val="1826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Plant</a:t>
          </a:r>
        </a:p>
      </dsp:txBody>
      <dsp:txXfrm>
        <a:off x="1133182" y="2506313"/>
        <a:ext cx="1736340" cy="823614"/>
      </dsp:txXfrm>
    </dsp:sp>
    <dsp:sp modelId="{B15189D7-4FDA-F747-9DDA-0DAC1DFCBA3D}">
      <dsp:nvSpPr>
        <dsp:cNvPr id="0" name=""/>
        <dsp:cNvSpPr/>
      </dsp:nvSpPr>
      <dsp:spPr>
        <a:xfrm>
          <a:off x="140" y="1373271"/>
          <a:ext cx="1825452" cy="912726"/>
        </a:xfrm>
        <a:prstGeom prst="roundRect">
          <a:avLst/>
        </a:prstGeom>
        <a:solidFill>
          <a:srgbClr val="1826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 Signal</a:t>
          </a:r>
        </a:p>
      </dsp:txBody>
      <dsp:txXfrm>
        <a:off x="44696" y="1417827"/>
        <a:ext cx="1736340" cy="8236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37BF0-9EB2-418B-9697-C43535CB4ECD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B685C-8B75-444F-9E23-2CB37A1E06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0123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6185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63DF-003B-92F3-4C0F-4977F7C6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078CE-00BC-C3E0-99C6-65C69B7BA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C3889-97D2-C65A-910E-411911B53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Explored 3 approaches to produce a hardware and mechanical design in addition to an algorithm solution.</a:t>
            </a: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MVP consists of a machine vision camera that allows for object detection and identification.</a:t>
            </a: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Solution will allow for increased passenger and pod safety once implemented</a:t>
            </a: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28922-B015-0FBF-3DCE-5CF23BA7E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9911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6C02-A47C-FA01-C51E-53FD4188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D998B-8261-9D03-89A4-0773FA003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47B59-9668-A94A-DFE0-7CCB2E13E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Explored 3 approaches to produce a hardware and mechanical design in addition to an algorithm solution.</a:t>
            </a: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MVP consists of a machine vision camera that allows for object detection and identification.</a:t>
            </a: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Solution will allow for increased passenger and pod safety once implemented</a:t>
            </a: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C6CC5-799D-AA7F-4B6D-9A0AFF2DF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835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3 subsystems</a:t>
            </a:r>
            <a:endParaRPr lang="en-US" sz="2400">
              <a:latin typeface="Montserrat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Sensor Infrastructure, Embedded System, &amp; UI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CA" sz="2400" i="1">
                <a:latin typeface="Montserrat"/>
                <a:ea typeface="+mn-lt"/>
                <a:cs typeface="+mn-lt"/>
              </a:rPr>
              <a:t>Pic per subsystem</a:t>
            </a: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8021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E5FA5-ED5E-5855-CB81-C3FF49BC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B00BC-6099-09FC-A7BE-30C9979AB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C53AC-9903-7D46-237F-B1EB91FF5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3 subsystems</a:t>
            </a:r>
            <a:endParaRPr lang="en-US" sz="2400">
              <a:latin typeface="Montserrat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Sensor Infrastructure, Embedded System, &amp; UI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CA" sz="2400" i="1">
                <a:latin typeface="Montserrat"/>
                <a:ea typeface="+mn-lt"/>
                <a:cs typeface="+mn-lt"/>
              </a:rPr>
              <a:t>Pic per subsystem</a:t>
            </a: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233E6-10AE-D658-D0F5-2D7742E03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4621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676C8-33BC-018E-8E4F-82A64E58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7FF72-CE0B-BA97-A754-FCB77CF35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BFAB7-8F77-800C-3288-F0C7212DB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3 subsystems</a:t>
            </a:r>
            <a:endParaRPr lang="en-US" sz="2400">
              <a:latin typeface="Montserrat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Sensor Infrastructure, Embedded System, &amp; UI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CA" sz="2400" i="1">
                <a:latin typeface="Montserrat"/>
                <a:ea typeface="+mn-lt"/>
                <a:cs typeface="+mn-lt"/>
              </a:rPr>
              <a:t>Pic per subsystem</a:t>
            </a: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3821E-510D-1A5C-50BA-C040FE446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595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E63F4-DE16-5C16-E94C-943B8B1D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398F0-1583-8901-45E6-750488BCB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D29D7-95C5-2BF0-069D-E8095AFAC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3 subsystems</a:t>
            </a:r>
            <a:endParaRPr lang="en-US" sz="2400">
              <a:latin typeface="Montserrat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Sensor Infrastructure, Embedded System, &amp; UI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CA" sz="2400" i="1">
                <a:latin typeface="Montserrat"/>
                <a:ea typeface="+mn-lt"/>
                <a:cs typeface="+mn-lt"/>
              </a:rPr>
              <a:t>Pic per subsystem</a:t>
            </a: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24143-2213-8CDA-E645-8218898DD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16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DB44-94C7-D40B-A091-F414FFBA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07C74-3785-C05F-237B-4409B3D9B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58125-0B0F-5926-0435-1CE91499B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3 subsystems</a:t>
            </a:r>
            <a:endParaRPr lang="en-US" sz="2400">
              <a:latin typeface="Montserrat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Sensor Infrastructure, Embedded System, &amp; UI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CA" sz="2400" i="1">
                <a:latin typeface="Montserrat"/>
                <a:ea typeface="+mn-lt"/>
                <a:cs typeface="+mn-lt"/>
              </a:rPr>
              <a:t>Pic per subsystem</a:t>
            </a: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DD196-3ADB-6A18-8A41-B04CE54F4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1351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22B5-76B9-33F5-B130-1F81757A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F7CB7-C8D6-4392-3AFF-C3405438F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2C276-59FF-0096-87E7-4B3914A57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3 subsystems</a:t>
            </a:r>
            <a:endParaRPr lang="en-US" sz="2400">
              <a:latin typeface="Montserrat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Sensor Infrastructure, Embedded System, &amp; UI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CA" sz="2400" i="1">
                <a:latin typeface="Montserrat"/>
                <a:ea typeface="+mn-lt"/>
                <a:cs typeface="+mn-lt"/>
              </a:rPr>
              <a:t>Pic per subsystem</a:t>
            </a: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7297E-44E3-0324-DE60-BB304E749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2941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321B0-EA97-632C-B087-87D9C521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F6BD9-E8C7-E418-2AAC-EE95ADC59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669B8-2682-A0FE-D559-EDE72B404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3 subsystems</a:t>
            </a:r>
            <a:endParaRPr lang="en-US" sz="2400">
              <a:latin typeface="Montserrat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Sensor Infrastructure, Embedded System, &amp; UI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CA" sz="2400" i="1">
                <a:latin typeface="Montserrat"/>
                <a:ea typeface="+mn-lt"/>
                <a:cs typeface="+mn-lt"/>
              </a:rPr>
              <a:t>Pic per subsystem</a:t>
            </a: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D1F23-BF61-3793-791D-63278A5C1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4499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D34B-13ED-56F6-9231-BF551162D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46D20-2123-4ADD-6D19-9597C7D75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6CE42-2E9A-876A-F6C2-97CBB4ED6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3 subsystems</a:t>
            </a:r>
            <a:endParaRPr lang="en-US" sz="2400">
              <a:latin typeface="Montserrat"/>
              <a:ea typeface="+mn-lt"/>
              <a:cs typeface="+mn-lt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CA" sz="2400">
                <a:latin typeface="Montserrat"/>
                <a:ea typeface="+mn-lt"/>
                <a:cs typeface="+mn-lt"/>
              </a:rPr>
              <a:t>Sensor Infrastructure, Embedded System, &amp; UI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CA" sz="2400" i="1">
                <a:latin typeface="Montserrat"/>
                <a:ea typeface="+mn-lt"/>
                <a:cs typeface="+mn-lt"/>
              </a:rPr>
              <a:t>Pic per subsystem</a:t>
            </a: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86883-A1CA-FF86-65ED-546C33281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561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2689-F80B-E3FE-DA7F-B2960E05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AFB4C-1032-4BAC-7481-7D840325A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3F077-CC6E-E2D8-8A9D-6EA647CBF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Montserrat" panose="00000500000000000000" pitchFamily="2" charset="0"/>
              </a:rPr>
              <a:t>Hardware 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latin typeface="Montserrat" panose="00000500000000000000" pitchFamily="2" charset="0"/>
              </a:rPr>
              <a:t>Chassis adjusted to a protective case for the camera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latin typeface="Montserrat" panose="00000500000000000000" pitchFamily="2" charset="0"/>
              </a:rPr>
              <a:t>Reduces 3D printing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latin typeface="Montserrat" panose="00000500000000000000" pitchFamily="2" charset="0"/>
              </a:rPr>
              <a:t>Allows ease of access for camera repairability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Backend software: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Comprised of two algorithms: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Object detection algorithm (YOLO)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Lane detection algorithm (Canny Edge detection and probabilistic Hough Transformations)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Utilizes datasets from platforms like Open Images Dataset for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E4EEB-9E0B-F500-9DD8-D96DD9B91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3323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C6E3-58E9-BE3C-5F86-79A3E9F2E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AD810-D023-807C-D2A5-9F46287FE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B02D1-B0A8-47F6-09EE-A13061684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Montserrat" panose="00000500000000000000" pitchFamily="2" charset="0"/>
              </a:rPr>
              <a:t>Hardware 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latin typeface="Montserrat" panose="00000500000000000000" pitchFamily="2" charset="0"/>
              </a:rPr>
              <a:t>Chassis adjusted to a protective case for the camera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latin typeface="Montserrat" panose="00000500000000000000" pitchFamily="2" charset="0"/>
              </a:rPr>
              <a:t>Reduces 3D printing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latin typeface="Montserrat" panose="00000500000000000000" pitchFamily="2" charset="0"/>
              </a:rPr>
              <a:t>Allows ease of access for camera repairability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Backend software: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Comprised of two algorithms: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Object detection algorithm (YOLO)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Lane detection algorithm (Canny Edge detection and probabilistic Hough Transformations)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>
                <a:latin typeface="Montserrat" panose="00000500000000000000" pitchFamily="2" charset="0"/>
              </a:rPr>
              <a:t>Utilizes datasets from platforms like Open Images Dataset for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827F-D5BF-6C1A-6AAE-CC356AE9D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477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1200">
                <a:highlight>
                  <a:srgbClr val="FFFF00"/>
                </a:highlight>
                <a:latin typeface="Montserrat"/>
                <a:cs typeface="Calibri"/>
              </a:rPr>
              <a:t>Importance of endpoint 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551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latin typeface="Montserrat"/>
                <a:ea typeface="+mn-lt"/>
                <a:cs typeface="+mn-lt"/>
              </a:rPr>
              <a:t>Protects embedded system components</a:t>
            </a:r>
            <a:endParaRPr lang="en-US" sz="1200">
              <a:latin typeface="Montserrat"/>
              <a:ea typeface="+mn-lt"/>
              <a:cs typeface="+mn-lt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latin typeface="Montserrat"/>
                <a:ea typeface="+mn-lt"/>
                <a:cs typeface="+mn-lt"/>
              </a:rPr>
              <a:t>Includes a 3D-printed case</a:t>
            </a:r>
            <a:endParaRPr lang="en-US" sz="1200">
              <a:latin typeface="Montserrat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3511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latin typeface="Montserrat"/>
                <a:ea typeface="+mn-lt"/>
                <a:cs typeface="+mn-lt"/>
              </a:rPr>
              <a:t>Protects embedded system components</a:t>
            </a:r>
            <a:endParaRPr lang="en-US" sz="1200">
              <a:latin typeface="Montserrat"/>
              <a:ea typeface="+mn-lt"/>
              <a:cs typeface="+mn-lt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latin typeface="Montserrat"/>
                <a:ea typeface="+mn-lt"/>
                <a:cs typeface="+mn-lt"/>
              </a:rPr>
              <a:t>Includes a 3D-printed case</a:t>
            </a:r>
            <a:endParaRPr lang="en-US" sz="1200">
              <a:latin typeface="Montserrat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3511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960B2-5AD9-30DF-A5F5-F9E8A153E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FD0E1-00E0-3D8B-F705-B7E8BAC7F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1C015-FFFA-760A-19D0-6B1351FF8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Four groups of engineering students were tasked with the same objective of designing a prototype machine vision sensor model.</a:t>
            </a: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This was done over the course of 12 weeks as a part of their engineering design class.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The methodologies and results of these groups have been classified into 3 approaches which will be explored in this presentation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CA" sz="1200">
                <a:solidFill>
                  <a:srgbClr val="001E2F"/>
                </a:solidFill>
                <a:latin typeface="Montserrat"/>
                <a:cs typeface="Poppins"/>
              </a:rPr>
              <a:t>These approaches were then evaluated relative to the MVP to generate a final solution</a:t>
            </a:r>
            <a:endParaRPr lang="en-CA" sz="1200">
              <a:solidFill>
                <a:srgbClr val="001E2F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D401C-DB49-1270-42A3-DED725FE6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3247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,Sans-Serif" pitchFamily="2" charset="2"/>
              <a:buChar char="§"/>
            </a:pP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6119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5C85-9E5D-607F-7BB0-BB7617E2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DBF10-CB8D-B4BB-006B-7C87B9BAD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75480-3862-B460-F130-C4D2EE26C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,Sans-Serif" pitchFamily="2" charset="2"/>
              <a:buChar char="§"/>
            </a:pP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42BF7-A287-F156-B9CE-F4F88F620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7358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DC909-1FC2-346D-E7A6-AED790A1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93099-C26E-92B9-A5C8-2322E7025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AA3BA-E7B8-7180-459A-528B6814E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,Sans-Serif" pitchFamily="2" charset="2"/>
              <a:buChar char="§"/>
            </a:pP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64001-CA20-1BBE-CCBC-2545471D7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36619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B3989-AC65-0289-D729-3437BFE8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9CF5D-D052-0974-B9D9-2093FE850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7AFBC-84B8-A549-AF96-E1BCBB822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,Sans-Serif" pitchFamily="2" charset="2"/>
              <a:buChar char="§"/>
            </a:pPr>
            <a:endParaRPr lang="en-CA" sz="2400">
              <a:latin typeface="Montserrat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8C2F5-FCA4-371C-A05C-A53CCF5E5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98867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1200">
                <a:solidFill>
                  <a:srgbClr val="001E2F"/>
                </a:solidFill>
                <a:latin typeface="Montserrat" pitchFamily="2" charset="77"/>
                <a:cs typeface="Poppins" pitchFamily="2" charset="77"/>
              </a:rPr>
              <a:t>Improve and refine all systems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200">
                <a:solidFill>
                  <a:srgbClr val="001E2F"/>
                </a:solidFill>
                <a:latin typeface="Montserrat" pitchFamily="2" charset="77"/>
                <a:cs typeface="Poppins" pitchFamily="2" charset="77"/>
              </a:rPr>
              <a:t>Test with hyperloop related items to improve effectiveness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200">
                <a:solidFill>
                  <a:srgbClr val="001E2F"/>
                </a:solidFill>
                <a:latin typeface="Montserrat" pitchFamily="2" charset="77"/>
                <a:cs typeface="Poppins" pitchFamily="2" charset="77"/>
              </a:rPr>
              <a:t>Reduce costs and improve manufacturability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1200">
                <a:solidFill>
                  <a:srgbClr val="001E2F"/>
                </a:solidFill>
                <a:latin typeface="Montserrat" pitchFamily="2" charset="77"/>
                <a:cs typeface="Poppins" pitchFamily="2" charset="77"/>
              </a:rPr>
              <a:t>Test on real hyperloop datasets to eliminate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B685C-8B75-444F-9E23-2CB37A1E0651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7728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793F-3AD4-4A55-AA30-AD46053F6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0479-6E9E-40E0-AB0A-1E5E973D8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089D9-A832-4BE2-B028-6C36F18D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E5C52-33A0-44B9-A7DE-61FC546B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7B951-A88F-4A2D-8CCF-6058C20A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E9011D9-AB82-CD2E-570C-95E44A860B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0" t="11560" r="68873" b="25878"/>
          <a:stretch>
            <a:fillRect/>
          </a:stretch>
        </p:blipFill>
        <p:spPr>
          <a:xfrm>
            <a:off x="11266582" y="136525"/>
            <a:ext cx="759766" cy="58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3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2DEE-E121-42FF-8C2E-8CA14AA3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7DC8-FE7E-48AD-B056-F2D5AC652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0CA6E-6B84-4A29-B223-2D3F4C4A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BF8CE-8638-4FB7-BD65-EC56FF2A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20E9-C981-457B-88B6-8AD0BCC3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896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A193A-4613-48CD-A4ED-E2C86700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E2BF6-55DC-48C3-B990-F820F0571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04B94-D398-40CF-8E54-CC88AFDE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66581-BB5F-4897-BCBC-9F892066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334C4-56A1-423D-A64D-DCDD666F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307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FCB7-FE06-4311-B500-A19D85E6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8DF1F-C29F-471B-BAED-9649A8699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10B41-EF5E-4F9A-AD31-FE90EAFC1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01706-4837-4FB8-B94D-8CC4B022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A5764-FEAE-424D-99A3-95A56BD45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386E6-C436-461C-AC8C-DB773C9D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703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0F94-49B8-4B84-97D2-49E1FD0BC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9E2D6-4010-44BB-86B1-55B6ADF6F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26EC1-505D-4C88-9A04-3DFAE463B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D32FD-5705-4D63-86DA-128FDBA81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F953A-4F43-4EBE-9CBA-52EFA5BF5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FD62E-3AB0-4B4A-A25A-CD447A1B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7DAF7-61F0-43F5-AFF2-4E44C910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E14D89-59C7-48B3-87C1-A7C9667A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938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0D6C-E54F-4E0F-8B9B-F049EF4E7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43D0B-E50E-4AB4-A896-4A5D99F1B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D7716-78C3-445E-9312-5EE3EE3E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3163B-5FD6-44EF-8B3A-F0378C6A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024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D3088-D6C8-4F53-BAFD-10F28D44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51C75F-E172-41B7-9CA4-B9ADDDE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4A40B-111E-409E-A6AE-4946F693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746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178E-B0B5-47A8-BE0B-BE3CFD57F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F4A6-1B30-4EF3-8B64-BC52C19E7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9BC74-EB02-49DE-B060-6977A8C89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B1318-3C43-4CB6-BF49-F6302D8A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EF160-6EF9-49F9-8B81-8D2B86351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14744-2A0A-4E4A-94EA-B9137F7D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993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335E-1814-46AA-BBAE-E5972CF2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52CDA-E2E6-494D-B06E-1D667C1AF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68EFA-983B-4091-BBE7-4D7BFCFEF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44402-BDF3-4261-92A3-745EC73C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4CC7A-D730-47DE-B3C7-218624B2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7DA61-FB0F-4836-A28C-15DA6486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071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684D-249C-462F-B02B-4C400C40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84603-F71C-4207-A608-5E5DEB4AC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9084B-9303-472E-8FAF-2F1891F56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B593-D13C-4A16-BD70-F545FE3E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4CF24-AB5E-457D-9A6F-CF1FC851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501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B22F6E-C6AA-4F44-ABAF-11988F232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9C798-8287-4719-87A9-0A3B346C8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C37FF-3677-4671-B9C6-A3E61C72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54220-380E-4569-949E-7EBC5B52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F499E-9A7C-4B8D-B1F8-81535D62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4971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694178-9DEB-4678-9B26-B34CC81E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2FA58-E6BC-4969-A777-0CF039522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A5CD6-E604-4808-9808-7619DCD2B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B4858-DA93-48FF-BA91-5455918B6763}" type="datetimeFigureOut">
              <a:rPr lang="en-CA" smtClean="0"/>
              <a:t>2025-06-26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83D1C-49EC-4A17-83D0-C2E748E6B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B360-3B7C-4B84-8AA2-6B04D28E4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84E11-582D-48C2-924E-9D020BB04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76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A_A0CF487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2_3B0D930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gi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BF0BF307-3A1D-22DA-5EC4-D888C041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29" b="72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533A27-3C09-3D1B-9DC7-3ACD4C8ACD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9956813-4BE6-BCD1-49B6-58B735183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326" y="2458102"/>
            <a:ext cx="5549348" cy="194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1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1D429-4D9B-2656-9F65-71EF46EF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6DDD7-FD08-C835-4B20-EF2BC0C48089}"/>
              </a:ext>
            </a:extLst>
          </p:cNvPr>
          <p:cNvSpPr txBox="1"/>
          <p:nvPr/>
        </p:nvSpPr>
        <p:spPr>
          <a:xfrm>
            <a:off x="899160" y="4412945"/>
            <a:ext cx="58651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Montserrat"/>
              </a:rPr>
              <a:t>Magnetic Levitation Control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39EB5-DAC0-64AC-CE88-11D4957E101C}"/>
              </a:ext>
            </a:extLst>
          </p:cNvPr>
          <p:cNvSpPr txBox="1"/>
          <p:nvPr/>
        </p:nvSpPr>
        <p:spPr>
          <a:xfrm>
            <a:off x="899160" y="4043613"/>
            <a:ext cx="582884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err="1">
                <a:solidFill>
                  <a:srgbClr val="FABD12"/>
                </a:solidFill>
                <a:latin typeface="Montserrat"/>
              </a:rPr>
              <a:t>Transpod</a:t>
            </a:r>
            <a:r>
              <a:rPr lang="en-US">
                <a:solidFill>
                  <a:srgbClr val="FABD12"/>
                </a:solidFill>
                <a:latin typeface="Montserrat"/>
              </a:rPr>
              <a:t> Challenge</a:t>
            </a:r>
            <a:endParaRPr lang="en-US">
              <a:solidFill>
                <a:srgbClr val="FABD12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DD433-C34B-47F0-A2FF-8197592A5BA2}"/>
              </a:ext>
            </a:extLst>
          </p:cNvPr>
          <p:cNvSpPr txBox="1"/>
          <p:nvPr/>
        </p:nvSpPr>
        <p:spPr>
          <a:xfrm>
            <a:off x="899160" y="4902521"/>
            <a:ext cx="3095719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Montserrat"/>
              </a:rPr>
              <a:t>Melissa </a:t>
            </a:r>
            <a:r>
              <a:rPr lang="en-US" sz="1200" err="1">
                <a:solidFill>
                  <a:schemeClr val="bg1"/>
                </a:solidFill>
                <a:latin typeface="Montserrat"/>
              </a:rPr>
              <a:t>Choloniuk</a:t>
            </a:r>
            <a:r>
              <a:rPr lang="en-US" sz="1200">
                <a:solidFill>
                  <a:schemeClr val="bg1"/>
                </a:solidFill>
                <a:latin typeface="Montserrat"/>
              </a:rPr>
              <a:t> and David </a:t>
            </a:r>
            <a:r>
              <a:rPr lang="en-US" sz="1200" err="1">
                <a:solidFill>
                  <a:schemeClr val="bg1"/>
                </a:solidFill>
                <a:latin typeface="Montserrat"/>
              </a:rPr>
              <a:t>Drobner</a:t>
            </a:r>
            <a:endParaRPr lang="en-US" sz="120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1200">
                <a:solidFill>
                  <a:schemeClr val="bg1"/>
                </a:solidFill>
                <a:latin typeface="Montserrat"/>
              </a:rPr>
              <a:t>May 31</a:t>
            </a:r>
            <a:r>
              <a:rPr lang="en-US" sz="1200" baseline="30000">
                <a:solidFill>
                  <a:schemeClr val="bg1"/>
                </a:solidFill>
                <a:latin typeface="Montserrat"/>
              </a:rPr>
              <a:t>st</a:t>
            </a:r>
            <a:r>
              <a:rPr lang="en-US" sz="1200">
                <a:solidFill>
                  <a:schemeClr val="bg1"/>
                </a:solidFill>
                <a:latin typeface="Montserrat"/>
              </a:rPr>
              <a:t>, 2025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3B4D40-023C-870A-4890-1B9F1AA0CC48}"/>
              </a:ext>
            </a:extLst>
          </p:cNvPr>
          <p:cNvCxnSpPr>
            <a:cxnSpLocks/>
          </p:cNvCxnSpPr>
          <p:nvPr/>
        </p:nvCxnSpPr>
        <p:spPr>
          <a:xfrm>
            <a:off x="1016000" y="3913397"/>
            <a:ext cx="801370" cy="0"/>
          </a:xfrm>
          <a:prstGeom prst="line">
            <a:avLst/>
          </a:prstGeom>
          <a:ln w="28575">
            <a:solidFill>
              <a:srgbClr val="FABD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-Shape 8">
            <a:extLst>
              <a:ext uri="{FF2B5EF4-FFF2-40B4-BE49-F238E27FC236}">
                <a16:creationId xmlns:a16="http://schemas.microsoft.com/office/drawing/2014/main" id="{907BE281-8062-24BB-1334-C0CF5D669745}"/>
              </a:ext>
            </a:extLst>
          </p:cNvPr>
          <p:cNvSpPr/>
          <p:nvPr/>
        </p:nvSpPr>
        <p:spPr>
          <a:xfrm flipH="1">
            <a:off x="10398478" y="5604426"/>
            <a:ext cx="748057" cy="773377"/>
          </a:xfrm>
          <a:prstGeom prst="corner">
            <a:avLst>
              <a:gd name="adj1" fmla="val 4866"/>
              <a:gd name="adj2" fmla="val 5069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BD1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D966DC-5C91-1B28-BD1E-A843AB91B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643" y="2665837"/>
            <a:ext cx="3466577" cy="121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7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FB41CE-C2A4-A507-6644-258201F88EE3}"/>
              </a:ext>
            </a:extLst>
          </p:cNvPr>
          <p:cNvSpPr txBox="1"/>
          <p:nvPr/>
        </p:nvSpPr>
        <p:spPr>
          <a:xfrm>
            <a:off x="1018168" y="501803"/>
            <a:ext cx="22172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Introduction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 panose="00000500000000000000" pitchFamily="2" charset="0"/>
              </a:rPr>
              <a:t>Team Members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EA756E6-0D6F-0D43-8825-2AB0493CD656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B8E60684-2234-CE79-9D36-730DEB5A9457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5DED12-63FF-E3FE-7654-853E61086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19632" y="1819143"/>
            <a:ext cx="1563248" cy="156324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4B03C3-59B2-F135-D2EE-735385262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84644" y="4518095"/>
            <a:ext cx="1150987" cy="11509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5BD153-552C-BE05-CD4B-078172F368DC}"/>
              </a:ext>
            </a:extLst>
          </p:cNvPr>
          <p:cNvSpPr txBox="1"/>
          <p:nvPr/>
        </p:nvSpPr>
        <p:spPr>
          <a:xfrm>
            <a:off x="3776133" y="3385473"/>
            <a:ext cx="2319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latin typeface="Montserrat" pitchFamily="2" charset="77"/>
              </a:rPr>
              <a:t>Melissa </a:t>
            </a:r>
            <a:r>
              <a:rPr lang="en-US" sz="1400" b="1" err="1">
                <a:latin typeface="Montserrat" pitchFamily="2" charset="77"/>
              </a:rPr>
              <a:t>Choloniuk</a:t>
            </a:r>
            <a:endParaRPr lang="en-US" sz="1400" b="1">
              <a:latin typeface="Montserrat" pitchFamily="2" charset="77"/>
            </a:endParaRPr>
          </a:p>
          <a:p>
            <a:pPr algn="ctr"/>
            <a:r>
              <a:rPr lang="en-US" sz="1400">
                <a:latin typeface="Montserrat" pitchFamily="2" charset="77"/>
              </a:rPr>
              <a:t>Engineering Physics ‘26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16EE0-1FA5-ACF7-7179-5D9F749712D8}"/>
              </a:ext>
            </a:extLst>
          </p:cNvPr>
          <p:cNvSpPr txBox="1"/>
          <p:nvPr/>
        </p:nvSpPr>
        <p:spPr>
          <a:xfrm>
            <a:off x="7818451" y="5755807"/>
            <a:ext cx="2483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latin typeface="Montserrat" pitchFamily="2" charset="77"/>
              </a:rPr>
              <a:t>Benjamin Cox</a:t>
            </a:r>
          </a:p>
          <a:p>
            <a:pPr algn="ctr"/>
            <a:r>
              <a:rPr lang="en-US" sz="1200">
                <a:latin typeface="Montserrat" pitchFamily="2" charset="77"/>
              </a:rPr>
              <a:t>Mechatronics Engineering ‘27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77A206-B179-298D-3124-51EB6944859B}"/>
              </a:ext>
            </a:extLst>
          </p:cNvPr>
          <p:cNvSpPr txBox="1"/>
          <p:nvPr/>
        </p:nvSpPr>
        <p:spPr>
          <a:xfrm>
            <a:off x="4991824" y="1194277"/>
            <a:ext cx="1648208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b="1">
                <a:latin typeface="Montserrat"/>
              </a:rPr>
              <a:t>Presenters</a:t>
            </a:r>
            <a:endParaRPr lang="en-US" sz="2000" b="1">
              <a:latin typeface="Montserrat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2B1723-DD93-062D-5C20-014C5FEB5A7E}"/>
              </a:ext>
            </a:extLst>
          </p:cNvPr>
          <p:cNvSpPr txBox="1"/>
          <p:nvPr/>
        </p:nvSpPr>
        <p:spPr>
          <a:xfrm>
            <a:off x="7040834" y="4179541"/>
            <a:ext cx="15552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Montserrat" pitchFamily="2" charset="77"/>
              </a:rPr>
              <a:t>Contributors</a:t>
            </a:r>
            <a:endParaRPr lang="en-US" sz="1600">
              <a:latin typeface="Montserrat" pitchFamily="2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838FB4B-D817-31AB-1D78-1C6F1B9CD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33815" y="4557571"/>
            <a:ext cx="1150987" cy="11509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9A55D4E-604C-DD27-8582-CC951C93481D}"/>
              </a:ext>
            </a:extLst>
          </p:cNvPr>
          <p:cNvSpPr txBox="1"/>
          <p:nvPr/>
        </p:nvSpPr>
        <p:spPr>
          <a:xfrm>
            <a:off x="1340567" y="5708558"/>
            <a:ext cx="3558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Montserrat" pitchFamily="2" charset="77"/>
              </a:rPr>
              <a:t>Dr. Moein </a:t>
            </a:r>
            <a:r>
              <a:rPr lang="en-US" sz="1200" b="1" err="1">
                <a:latin typeface="Montserrat" pitchFamily="2" charset="77"/>
              </a:rPr>
              <a:t>Mehrtash</a:t>
            </a:r>
            <a:endParaRPr lang="en-US" sz="1200" b="1">
              <a:latin typeface="Montserrat" pitchFamily="2" charset="77"/>
            </a:endParaRPr>
          </a:p>
          <a:p>
            <a:pPr algn="ctr"/>
            <a:r>
              <a:rPr lang="en-US" sz="1200" i="1">
                <a:latin typeface="Montserrat" pitchFamily="2" charset="77"/>
              </a:rPr>
              <a:t>Associate Professor</a:t>
            </a:r>
          </a:p>
          <a:p>
            <a:pPr algn="ctr"/>
            <a:r>
              <a:rPr lang="en-US" sz="1200">
                <a:latin typeface="Montserrat" pitchFamily="2" charset="77"/>
              </a:rPr>
              <a:t>School of Engineering Technology, McMaster University</a:t>
            </a:r>
          </a:p>
        </p:txBody>
      </p:sp>
      <p:pic>
        <p:nvPicPr>
          <p:cNvPr id="28" name="Picture 27" descr="A person smiling for a picture&#10;&#10;Description automatically generated">
            <a:extLst>
              <a:ext uri="{FF2B5EF4-FFF2-40B4-BE49-F238E27FC236}">
                <a16:creationId xmlns:a16="http://schemas.microsoft.com/office/drawing/2014/main" id="{4F44FD8D-1E8C-8897-CE6E-78D94F070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2441" b="2441"/>
          <a:stretch/>
        </p:blipFill>
        <p:spPr bwMode="auto">
          <a:xfrm>
            <a:off x="6040911" y="4518095"/>
            <a:ext cx="1150987" cy="11509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3715D0F-D38B-8ABC-450C-A37AF99410F6}"/>
              </a:ext>
            </a:extLst>
          </p:cNvPr>
          <p:cNvSpPr txBox="1"/>
          <p:nvPr/>
        </p:nvSpPr>
        <p:spPr>
          <a:xfrm>
            <a:off x="5677685" y="5768736"/>
            <a:ext cx="1877437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200" b="1">
                <a:latin typeface="Montserrat"/>
              </a:rPr>
              <a:t>Noah Segal</a:t>
            </a:r>
            <a:endParaRPr lang="en-US" sz="1200" b="1">
              <a:latin typeface="Montserrat" pitchFamily="2" charset="77"/>
            </a:endParaRPr>
          </a:p>
          <a:p>
            <a:pPr algn="ctr"/>
            <a:r>
              <a:rPr lang="en-US" sz="1200">
                <a:latin typeface="Montserrat"/>
              </a:rPr>
              <a:t>Computer Science ‘28</a:t>
            </a:r>
            <a:endParaRPr lang="en-US" sz="1200">
              <a:latin typeface="Montserrat" pitchFamily="2" charset="77"/>
            </a:endParaRPr>
          </a:p>
        </p:txBody>
      </p:sp>
      <p:pic>
        <p:nvPicPr>
          <p:cNvPr id="31" name="Picture 30" descr="A person in a blue shirt&#10;&#10;Description automatically generated">
            <a:extLst>
              <a:ext uri="{FF2B5EF4-FFF2-40B4-BE49-F238E27FC236}">
                <a16:creationId xmlns:a16="http://schemas.microsoft.com/office/drawing/2014/main" id="{DBA5370C-B051-CFED-9F5F-28387DFD5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6096000" y="1822754"/>
            <a:ext cx="1563248" cy="156324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41ECDD-1627-B75C-0D68-FBF77F8725B4}"/>
              </a:ext>
            </a:extLst>
          </p:cNvPr>
          <p:cNvSpPr txBox="1"/>
          <p:nvPr/>
        </p:nvSpPr>
        <p:spPr>
          <a:xfrm>
            <a:off x="6096000" y="3432611"/>
            <a:ext cx="1563248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 b="1">
                <a:latin typeface="Montserrat"/>
              </a:rPr>
              <a:t>David </a:t>
            </a:r>
            <a:r>
              <a:rPr lang="en-US" sz="1400" b="1" err="1">
                <a:latin typeface="Montserrat"/>
              </a:rPr>
              <a:t>Drobner</a:t>
            </a:r>
            <a:endParaRPr lang="en-US" sz="1400" b="1">
              <a:latin typeface="Montserrat" pitchFamily="2" charset="77"/>
            </a:endParaRPr>
          </a:p>
          <a:p>
            <a:pPr algn="ctr"/>
            <a:r>
              <a:rPr lang="en-US" sz="1400" err="1">
                <a:latin typeface="Montserrat"/>
              </a:rPr>
              <a:t>Mathphys</a:t>
            </a:r>
            <a:r>
              <a:rPr lang="en-US" sz="1400">
                <a:latin typeface="Montserrat"/>
              </a:rPr>
              <a:t> ‘25</a:t>
            </a:r>
            <a:endParaRPr lang="en-US" sz="1400">
              <a:latin typeface="Montserrat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E63126-572B-51D7-5257-78A37C75E736}"/>
              </a:ext>
            </a:extLst>
          </p:cNvPr>
          <p:cNvSpPr txBox="1"/>
          <p:nvPr/>
        </p:nvSpPr>
        <p:spPr>
          <a:xfrm>
            <a:off x="2190630" y="4179541"/>
            <a:ext cx="1837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Montserrat" pitchFamily="2" charset="77"/>
              </a:rPr>
              <a:t>Project Advisor</a:t>
            </a:r>
          </a:p>
        </p:txBody>
      </p:sp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2A9A0BB-D114-C7A5-639D-1779C44E72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2512B5C-5197-0614-4103-A38DA82D03B1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2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6157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CF168-7F58-E773-0C24-A0C84AAE8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B10CC4-8361-AB8A-7898-B10EB40B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CA" sz="2700">
                <a:solidFill>
                  <a:srgbClr val="FABD12"/>
                </a:solidFill>
                <a:latin typeface="Montserrat" panose="00000500000000000000" pitchFamily="2" charset="0"/>
                <a:cs typeface="Poppins" pitchFamily="2" charset="77"/>
              </a:rPr>
              <a:t>Section 1</a:t>
            </a:r>
            <a:br>
              <a:rPr lang="en-CA" sz="36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</a:br>
            <a:r>
              <a:rPr lang="en-CA" sz="72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  <a:t>The Problem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42E219-8F60-3AD8-1692-4F672F714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6049" y="439335"/>
            <a:ext cx="2944429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5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D1EEC-E7B9-2977-DEA1-858E3DD0D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BE1B525-8D8E-788C-4931-F92BE49C3590}"/>
              </a:ext>
            </a:extLst>
          </p:cNvPr>
          <p:cNvSpPr/>
          <p:nvPr/>
        </p:nvSpPr>
        <p:spPr>
          <a:xfrm>
            <a:off x="1071490" y="4060534"/>
            <a:ext cx="4897524" cy="925196"/>
          </a:xfrm>
          <a:prstGeom prst="rect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6EAC6C-69FF-341F-7E90-D61E93D56FCF}"/>
              </a:ext>
            </a:extLst>
          </p:cNvPr>
          <p:cNvGrpSpPr/>
          <p:nvPr/>
        </p:nvGrpSpPr>
        <p:grpSpPr>
          <a:xfrm>
            <a:off x="330896" y="2795995"/>
            <a:ext cx="5638466" cy="1013524"/>
            <a:chOff x="330896" y="3012550"/>
            <a:chExt cx="5638466" cy="101352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097D46-9547-BB5D-27FF-7F75CA885336}"/>
                </a:ext>
              </a:extLst>
            </p:cNvPr>
            <p:cNvSpPr/>
            <p:nvPr/>
          </p:nvSpPr>
          <p:spPr>
            <a:xfrm>
              <a:off x="1071837" y="3052668"/>
              <a:ext cx="4897525" cy="925196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5CCC7D5-110D-224E-B650-D1F0FDED4590}"/>
                </a:ext>
              </a:extLst>
            </p:cNvPr>
            <p:cNvSpPr/>
            <p:nvPr/>
          </p:nvSpPr>
          <p:spPr>
            <a:xfrm>
              <a:off x="330896" y="3012550"/>
              <a:ext cx="1013524" cy="1013524"/>
            </a:xfrm>
            <a:prstGeom prst="ellipse">
              <a:avLst/>
            </a:prstGeom>
            <a:solidFill>
              <a:srgbClr val="18265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22FE2B-F9CB-EDE2-14D6-E093CA10FDD8}"/>
                </a:ext>
              </a:extLst>
            </p:cNvPr>
            <p:cNvSpPr txBox="1"/>
            <p:nvPr/>
          </p:nvSpPr>
          <p:spPr>
            <a:xfrm>
              <a:off x="1365583" y="3155973"/>
              <a:ext cx="4603431" cy="615105"/>
            </a:xfrm>
            <a:prstGeom prst="rect">
              <a:avLst/>
            </a:prstGeom>
            <a:solidFill>
              <a:srgbClr val="18265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CA" sz="1200">
                  <a:solidFill>
                    <a:schemeClr val="bg1"/>
                  </a:solidFill>
                  <a:latin typeface="Montserrat" pitchFamily="2" charset="77"/>
                  <a:ea typeface="+mn-lt"/>
                  <a:cs typeface="+mn-lt"/>
                </a:rPr>
                <a:t>Account for the instability of magnetic attraction, vibrations and deformation from the guideway.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C68120E-40C0-596A-5634-839902669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06569" y="3262969"/>
              <a:ext cx="492017" cy="492017"/>
            </a:xfrm>
            <a:prstGeom prst="rect">
              <a:avLst/>
            </a:prstGeom>
            <a:solidFill>
              <a:srgbClr val="182650"/>
            </a:solidFill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1BF9751-7C8F-4101-C86E-49F9F70B4A28}"/>
              </a:ext>
            </a:extLst>
          </p:cNvPr>
          <p:cNvSpPr txBox="1"/>
          <p:nvPr/>
        </p:nvSpPr>
        <p:spPr>
          <a:xfrm>
            <a:off x="1018168" y="501803"/>
            <a:ext cx="22172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Introduction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 panose="00000500000000000000" pitchFamily="2" charset="0"/>
              </a:rPr>
              <a:t>Motivations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31D372B-B1C6-AF98-EBE8-962F50039F8D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5994816D-F424-3B17-4A7A-BDC3545E02DB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2" name="Picture 2" descr="Screen Recording 2024-11-19 at 3.09.26 PM.mov [video-to-gif output image]">
            <a:extLst>
              <a:ext uri="{FF2B5EF4-FFF2-40B4-BE49-F238E27FC236}">
                <a16:creationId xmlns:a16="http://schemas.microsoft.com/office/drawing/2014/main" id="{CE546C9B-7B68-DC5D-6068-86069F4BA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6" b="7712"/>
          <a:stretch/>
        </p:blipFill>
        <p:spPr bwMode="auto">
          <a:xfrm>
            <a:off x="8618539" y="1722436"/>
            <a:ext cx="3064778" cy="4400238"/>
          </a:xfrm>
          <a:prstGeom prst="rect">
            <a:avLst/>
          </a:prstGeom>
          <a:solidFill>
            <a:srgbClr val="000000">
              <a:shade val="95000"/>
            </a:srgbClr>
          </a:solidFill>
          <a:ln w="127000" cap="sq">
            <a:noFill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698CA2-B132-D4DD-5AB1-CA90949FF126}"/>
              </a:ext>
            </a:extLst>
          </p:cNvPr>
          <p:cNvSpPr txBox="1"/>
          <p:nvPr/>
        </p:nvSpPr>
        <p:spPr>
          <a:xfrm>
            <a:off x="6632223" y="2004932"/>
            <a:ext cx="1865013" cy="1077218"/>
          </a:xfrm>
          <a:prstGeom prst="rect">
            <a:avLst/>
          </a:prstGeom>
          <a:solidFill>
            <a:srgbClr val="FABD12"/>
          </a:solidFill>
          <a:ln>
            <a:solidFill>
              <a:srgbClr val="1826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>
                <a:latin typeface="Montserrat" pitchFamily="2" charset="77"/>
              </a:rPr>
              <a:t>Air gap oscillating between 5 to 10 mm.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CB3B051E-6970-428F-D198-9D1DA04233E3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7799011" y="2847869"/>
            <a:ext cx="1378341" cy="1846902"/>
          </a:xfrm>
          <a:prstGeom prst="bentConnector2">
            <a:avLst/>
          </a:prstGeom>
          <a:ln w="19050">
            <a:solidFill>
              <a:srgbClr val="FABD1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2F3AFB0-63AC-B45F-CD66-2F9D1828E864}"/>
              </a:ext>
            </a:extLst>
          </p:cNvPr>
          <p:cNvGrpSpPr/>
          <p:nvPr/>
        </p:nvGrpSpPr>
        <p:grpSpPr>
          <a:xfrm>
            <a:off x="362904" y="1565268"/>
            <a:ext cx="5606458" cy="1013524"/>
            <a:chOff x="351405" y="2045682"/>
            <a:chExt cx="5606458" cy="1013524"/>
          </a:xfrm>
          <a:solidFill>
            <a:srgbClr val="182650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579C0A-940E-5466-72BF-3DABA3E80531}"/>
                </a:ext>
              </a:extLst>
            </p:cNvPr>
            <p:cNvSpPr/>
            <p:nvPr/>
          </p:nvSpPr>
          <p:spPr>
            <a:xfrm>
              <a:off x="1058779" y="2094140"/>
              <a:ext cx="4899084" cy="925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48C052-7914-896E-0C67-C732BCE84620}"/>
                </a:ext>
              </a:extLst>
            </p:cNvPr>
            <p:cNvSpPr txBox="1"/>
            <p:nvPr/>
          </p:nvSpPr>
          <p:spPr>
            <a:xfrm>
              <a:off x="1409790" y="2418237"/>
              <a:ext cx="4297971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CA" sz="1200">
                  <a:solidFill>
                    <a:schemeClr val="bg1"/>
                  </a:solidFill>
                  <a:latin typeface="Montserrat" pitchFamily="2" charset="77"/>
                  <a:ea typeface="+mn-lt"/>
                  <a:cs typeface="+mn-lt"/>
                </a:rPr>
                <a:t>Monitor and control the 4 vertical forces of attraction 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0A78E57-F06F-594C-D03B-830A0FBC1955}"/>
                </a:ext>
              </a:extLst>
            </p:cNvPr>
            <p:cNvGrpSpPr/>
            <p:nvPr/>
          </p:nvGrpSpPr>
          <p:grpSpPr>
            <a:xfrm>
              <a:off x="351405" y="2045682"/>
              <a:ext cx="1013524" cy="1013524"/>
              <a:chOff x="1741408" y="4150990"/>
              <a:chExt cx="1013524" cy="1013524"/>
            </a:xfrm>
            <a:grpFill/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9407333-402C-9894-0AFD-CE30D92FAA01}"/>
                  </a:ext>
                </a:extLst>
              </p:cNvPr>
              <p:cNvSpPr/>
              <p:nvPr/>
            </p:nvSpPr>
            <p:spPr>
              <a:xfrm>
                <a:off x="1741408" y="4150990"/>
                <a:ext cx="1013524" cy="1013524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8510B6B-5032-A211-5570-7953E5CFFE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02510" y="4416037"/>
                <a:ext cx="492017" cy="492017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C559CF6-C8A2-65F8-B19A-F77A72DAB756}"/>
              </a:ext>
            </a:extLst>
          </p:cNvPr>
          <p:cNvGrpSpPr/>
          <p:nvPr/>
        </p:nvGrpSpPr>
        <p:grpSpPr>
          <a:xfrm>
            <a:off x="352059" y="4026722"/>
            <a:ext cx="5616955" cy="1013524"/>
            <a:chOff x="352059" y="4005404"/>
            <a:chExt cx="5616955" cy="101352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83BD3FE-B930-0022-EC8A-1C0B0541B90F}"/>
                </a:ext>
              </a:extLst>
            </p:cNvPr>
            <p:cNvSpPr/>
            <p:nvPr/>
          </p:nvSpPr>
          <p:spPr>
            <a:xfrm>
              <a:off x="352059" y="4005404"/>
              <a:ext cx="1013524" cy="1013524"/>
            </a:xfrm>
            <a:prstGeom prst="ellipse">
              <a:avLst/>
            </a:prstGeom>
            <a:solidFill>
              <a:srgbClr val="18265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00C1517-3BF1-6D35-7757-79C544AAF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23658" y="4277123"/>
              <a:ext cx="492017" cy="492017"/>
            </a:xfrm>
            <a:prstGeom prst="rect">
              <a:avLst/>
            </a:prstGeom>
            <a:solidFill>
              <a:srgbClr val="182650"/>
            </a:solidFill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4F5F9B-E46E-9CA1-98AF-FC1D8DEBA942}"/>
                </a:ext>
              </a:extLst>
            </p:cNvPr>
            <p:cNvSpPr txBox="1"/>
            <p:nvPr/>
          </p:nvSpPr>
          <p:spPr>
            <a:xfrm>
              <a:off x="1365583" y="4187162"/>
              <a:ext cx="4603431" cy="615105"/>
            </a:xfrm>
            <a:prstGeom prst="rect">
              <a:avLst/>
            </a:prstGeom>
            <a:solidFill>
              <a:srgbClr val="18265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CA" sz="1200">
                  <a:solidFill>
                    <a:schemeClr val="bg1"/>
                  </a:solidFill>
                  <a:latin typeface="Montserrat" pitchFamily="2" charset="77"/>
                  <a:ea typeface="+mn-lt"/>
                  <a:cs typeface="+mn-lt"/>
                </a:rPr>
                <a:t>Monitor the air gap by means of a control system to adjust the force and system accordingly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A78C7A6-AB8C-D995-45D4-3A43783BB47A}"/>
              </a:ext>
            </a:extLst>
          </p:cNvPr>
          <p:cNvGrpSpPr/>
          <p:nvPr/>
        </p:nvGrpSpPr>
        <p:grpSpPr>
          <a:xfrm>
            <a:off x="389347" y="5257449"/>
            <a:ext cx="5606110" cy="1013524"/>
            <a:chOff x="362904" y="5068400"/>
            <a:chExt cx="5606110" cy="101352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0F3756E-9F90-52CF-04A5-8E67583603AE}"/>
                </a:ext>
              </a:extLst>
            </p:cNvPr>
            <p:cNvSpPr/>
            <p:nvPr/>
          </p:nvSpPr>
          <p:spPr>
            <a:xfrm>
              <a:off x="1071490" y="5108270"/>
              <a:ext cx="4897524" cy="925196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EA56F83-C9B2-A9BC-B6FC-7A772D8C161A}"/>
                </a:ext>
              </a:extLst>
            </p:cNvPr>
            <p:cNvSpPr/>
            <p:nvPr/>
          </p:nvSpPr>
          <p:spPr>
            <a:xfrm>
              <a:off x="362904" y="5068400"/>
              <a:ext cx="1013524" cy="1013524"/>
            </a:xfrm>
            <a:prstGeom prst="ellipse">
              <a:avLst/>
            </a:prstGeom>
            <a:solidFill>
              <a:srgbClr val="18265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5335B29A-E981-3792-A12A-5FBDC043D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23658" y="5324859"/>
              <a:ext cx="492017" cy="492017"/>
            </a:xfrm>
            <a:prstGeom prst="rect">
              <a:avLst/>
            </a:prstGeom>
            <a:solidFill>
              <a:srgbClr val="182650"/>
            </a:solidFill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14EE269-3708-D85F-6E7E-7AA98ECAEA2C}"/>
                </a:ext>
              </a:extLst>
            </p:cNvPr>
            <p:cNvSpPr txBox="1"/>
            <p:nvPr/>
          </p:nvSpPr>
          <p:spPr>
            <a:xfrm>
              <a:off x="1420941" y="5401814"/>
              <a:ext cx="4548073" cy="338106"/>
            </a:xfrm>
            <a:prstGeom prst="rect">
              <a:avLst/>
            </a:prstGeom>
            <a:solidFill>
              <a:srgbClr val="18265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CA" sz="1200">
                  <a:solidFill>
                    <a:schemeClr val="bg1"/>
                  </a:solidFill>
                  <a:latin typeface="Montserrat" pitchFamily="2" charset="77"/>
                  <a:ea typeface="+mn-lt"/>
                  <a:cs typeface="+mn-lt"/>
                </a:rPr>
                <a:t>Approximately 5-10mm air gap </a:t>
              </a:r>
              <a:endParaRPr lang="en-CA" sz="1200">
                <a:solidFill>
                  <a:schemeClr val="bg1"/>
                </a:solidFill>
                <a:latin typeface="Montserrat" pitchFamily="2" charset="77"/>
                <a:cs typeface="Poppins"/>
              </a:endParaRPr>
            </a:p>
          </p:txBody>
        </p:sp>
      </p:grpSp>
      <p:pic>
        <p:nvPicPr>
          <p:cNvPr id="54" name="Picture 5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75F7B0E-8C74-0B54-978F-06A01D0984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9C6DFEB3-4C1C-F150-7745-27CC4FFDC7B7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3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6826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240DE-1B95-CBD9-45E5-72554025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4639DC-5A72-848A-3C91-B9E1AAFFC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5BC688-0FED-50AE-7167-0F5DF8698F25}"/>
              </a:ext>
            </a:extLst>
          </p:cNvPr>
          <p:cNvSpPr txBox="1"/>
          <p:nvPr/>
        </p:nvSpPr>
        <p:spPr>
          <a:xfrm>
            <a:off x="1018168" y="501803"/>
            <a:ext cx="22172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Introduction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 panose="00000500000000000000" pitchFamily="2" charset="0"/>
              </a:rPr>
              <a:t>Motivations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FFDFB483-3BED-2EAA-13B3-FFCD16A705CE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DBEB6D34-0341-D08C-563A-E4CC2566770C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2" name="Picture 2" descr="Screen Recording 2024-11-19 at 3.09.26 PM.mov [video-to-gif output image]">
            <a:extLst>
              <a:ext uri="{FF2B5EF4-FFF2-40B4-BE49-F238E27FC236}">
                <a16:creationId xmlns:a16="http://schemas.microsoft.com/office/drawing/2014/main" id="{BBD0F6E8-F0AA-1259-8A91-075BB5980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6" b="7712"/>
          <a:stretch/>
        </p:blipFill>
        <p:spPr bwMode="auto">
          <a:xfrm>
            <a:off x="8618539" y="1722436"/>
            <a:ext cx="3064778" cy="4400238"/>
          </a:xfrm>
          <a:prstGeom prst="rect">
            <a:avLst/>
          </a:prstGeom>
          <a:solidFill>
            <a:srgbClr val="000000">
              <a:shade val="95000"/>
            </a:srgbClr>
          </a:solidFill>
          <a:ln w="127000" cap="sq">
            <a:noFill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2D3182-A4A1-30FB-1035-9D5605A4B04C}"/>
              </a:ext>
            </a:extLst>
          </p:cNvPr>
          <p:cNvSpPr txBox="1"/>
          <p:nvPr/>
        </p:nvSpPr>
        <p:spPr>
          <a:xfrm>
            <a:off x="6632223" y="2004932"/>
            <a:ext cx="1865013" cy="1077218"/>
          </a:xfrm>
          <a:prstGeom prst="rect">
            <a:avLst/>
          </a:prstGeom>
          <a:solidFill>
            <a:srgbClr val="FABD12"/>
          </a:solidFill>
          <a:ln>
            <a:solidFill>
              <a:srgbClr val="FABD1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>
                <a:latin typeface="Montserrat" pitchFamily="2" charset="77"/>
              </a:rPr>
              <a:t>Air gap oscillating between 5 to 10 mm.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05CF72EF-E9B1-7DE2-0FB1-F7559D16E2B0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7799011" y="2847869"/>
            <a:ext cx="1378341" cy="1846902"/>
          </a:xfrm>
          <a:prstGeom prst="bentConnector2">
            <a:avLst/>
          </a:prstGeom>
          <a:ln w="19050">
            <a:solidFill>
              <a:srgbClr val="FABD1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C5CED38-FF57-7DAC-C039-7338766DDFAF}"/>
              </a:ext>
            </a:extLst>
          </p:cNvPr>
          <p:cNvGrpSpPr/>
          <p:nvPr/>
        </p:nvGrpSpPr>
        <p:grpSpPr>
          <a:xfrm>
            <a:off x="407417" y="2004932"/>
            <a:ext cx="5561945" cy="925196"/>
            <a:chOff x="395918" y="2094140"/>
            <a:chExt cx="5561945" cy="925196"/>
          </a:xfrm>
          <a:solidFill>
            <a:srgbClr val="182650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B5FA99-B4B5-6564-D710-2F22E189737D}"/>
                </a:ext>
              </a:extLst>
            </p:cNvPr>
            <p:cNvSpPr/>
            <p:nvPr/>
          </p:nvSpPr>
          <p:spPr>
            <a:xfrm>
              <a:off x="1058779" y="2094140"/>
              <a:ext cx="4899084" cy="925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B4653EB-648C-2E25-BD57-97198B116B9C}"/>
                </a:ext>
              </a:extLst>
            </p:cNvPr>
            <p:cNvSpPr txBox="1"/>
            <p:nvPr/>
          </p:nvSpPr>
          <p:spPr>
            <a:xfrm>
              <a:off x="1409790" y="2418237"/>
              <a:ext cx="2343911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CA" sz="1200">
                  <a:solidFill>
                    <a:schemeClr val="bg1"/>
                  </a:solidFill>
                  <a:latin typeface="Montserrat" pitchFamily="2" charset="77"/>
                  <a:ea typeface="+mn-lt"/>
                  <a:cs typeface="+mn-lt"/>
                </a:rPr>
                <a:t>Control the 4 vertical forces 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18E3437-EED6-1DB1-50DD-5772221831DA}"/>
                </a:ext>
              </a:extLst>
            </p:cNvPr>
            <p:cNvGrpSpPr/>
            <p:nvPr/>
          </p:nvGrpSpPr>
          <p:grpSpPr>
            <a:xfrm>
              <a:off x="395918" y="2094140"/>
              <a:ext cx="925196" cy="925196"/>
              <a:chOff x="1785921" y="4199448"/>
              <a:chExt cx="925196" cy="925196"/>
            </a:xfrm>
            <a:grpFill/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58C21E7-EEF1-49C1-763B-097E54BC041A}"/>
                  </a:ext>
                </a:extLst>
              </p:cNvPr>
              <p:cNvSpPr/>
              <p:nvPr/>
            </p:nvSpPr>
            <p:spPr>
              <a:xfrm>
                <a:off x="1785921" y="4199448"/>
                <a:ext cx="925196" cy="925196"/>
              </a:xfrm>
              <a:prstGeom prst="ellipse">
                <a:avLst/>
              </a:prstGeom>
              <a:grpFill/>
              <a:ln w="76200">
                <a:solidFill>
                  <a:srgbClr val="001F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4555901-1413-401D-2B54-144AC07845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02510" y="4416037"/>
                <a:ext cx="492017" cy="492017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A08700F-707E-D86A-53BA-35A3DAB69085}"/>
              </a:ext>
            </a:extLst>
          </p:cNvPr>
          <p:cNvGrpSpPr/>
          <p:nvPr/>
        </p:nvGrpSpPr>
        <p:grpSpPr>
          <a:xfrm>
            <a:off x="407417" y="3052668"/>
            <a:ext cx="5561945" cy="925196"/>
            <a:chOff x="362600" y="3280538"/>
            <a:chExt cx="5561945" cy="925196"/>
          </a:xfrm>
          <a:solidFill>
            <a:srgbClr val="182650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791B5E-EAC6-6065-319E-686D5210BF37}"/>
                </a:ext>
              </a:extLst>
            </p:cNvPr>
            <p:cNvSpPr/>
            <p:nvPr/>
          </p:nvSpPr>
          <p:spPr>
            <a:xfrm>
              <a:off x="1027020" y="3280538"/>
              <a:ext cx="4897525" cy="925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C59CB38-5BCC-86CF-5C2D-F6AC169F6A18}"/>
                </a:ext>
              </a:extLst>
            </p:cNvPr>
            <p:cNvGrpSpPr/>
            <p:nvPr/>
          </p:nvGrpSpPr>
          <p:grpSpPr>
            <a:xfrm>
              <a:off x="362600" y="3280538"/>
              <a:ext cx="925196" cy="925196"/>
              <a:chOff x="1785921" y="4199448"/>
              <a:chExt cx="925196" cy="925196"/>
            </a:xfrm>
            <a:grpFill/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66BA209-ADE4-0D1F-33A0-A7EDF7FE131E}"/>
                  </a:ext>
                </a:extLst>
              </p:cNvPr>
              <p:cNvSpPr/>
              <p:nvPr/>
            </p:nvSpPr>
            <p:spPr>
              <a:xfrm>
                <a:off x="1785921" y="4199448"/>
                <a:ext cx="925196" cy="925196"/>
              </a:xfrm>
              <a:prstGeom prst="ellipse">
                <a:avLst/>
              </a:prstGeom>
              <a:grpFill/>
              <a:ln w="76200">
                <a:solidFill>
                  <a:srgbClr val="001F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A2CF1EC-63B2-0C7C-97B7-2AF2838EC4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2002510" y="4416037"/>
                <a:ext cx="492017" cy="492017"/>
              </a:xfrm>
              <a:prstGeom prst="rect">
                <a:avLst/>
              </a:prstGeom>
              <a:grpFill/>
            </p:spPr>
          </p:pic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9344D7-A98A-E326-1715-150BA6C99664}"/>
                </a:ext>
              </a:extLst>
            </p:cNvPr>
            <p:cNvSpPr txBox="1"/>
            <p:nvPr/>
          </p:nvSpPr>
          <p:spPr>
            <a:xfrm>
              <a:off x="1320766" y="3383843"/>
              <a:ext cx="4603431" cy="61510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CA" sz="1200">
                  <a:solidFill>
                    <a:schemeClr val="bg1"/>
                  </a:solidFill>
                  <a:latin typeface="Montserrat" pitchFamily="2" charset="77"/>
                  <a:ea typeface="+mn-lt"/>
                  <a:cs typeface="+mn-lt"/>
                </a:rPr>
                <a:t>Account for the instability of magnetic attraction, vibrations and deformation from the guideway.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803CA8-0548-356A-383C-67CBC84F9EBC}"/>
              </a:ext>
            </a:extLst>
          </p:cNvPr>
          <p:cNvGrpSpPr/>
          <p:nvPr/>
        </p:nvGrpSpPr>
        <p:grpSpPr>
          <a:xfrm>
            <a:off x="407069" y="4060534"/>
            <a:ext cx="5561945" cy="925196"/>
            <a:chOff x="395918" y="4531449"/>
            <a:chExt cx="5561945" cy="925196"/>
          </a:xfrm>
          <a:solidFill>
            <a:srgbClr val="182650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D842BD-3D4A-B066-090C-0F6E537226B2}"/>
                </a:ext>
              </a:extLst>
            </p:cNvPr>
            <p:cNvSpPr/>
            <p:nvPr/>
          </p:nvSpPr>
          <p:spPr>
            <a:xfrm>
              <a:off x="1060339" y="4531449"/>
              <a:ext cx="4897524" cy="925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D7374D-C363-1D40-F1D6-C0D1B7ABB599}"/>
                </a:ext>
              </a:extLst>
            </p:cNvPr>
            <p:cNvGrpSpPr/>
            <p:nvPr/>
          </p:nvGrpSpPr>
          <p:grpSpPr>
            <a:xfrm>
              <a:off x="395918" y="4531449"/>
              <a:ext cx="925196" cy="925196"/>
              <a:chOff x="1785921" y="4199448"/>
              <a:chExt cx="925196" cy="925196"/>
            </a:xfrm>
            <a:grpFill/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57CA9BA-F30E-07F7-3987-A6E98C4EF83B}"/>
                  </a:ext>
                </a:extLst>
              </p:cNvPr>
              <p:cNvSpPr/>
              <p:nvPr/>
            </p:nvSpPr>
            <p:spPr>
              <a:xfrm>
                <a:off x="1785921" y="4199448"/>
                <a:ext cx="925196" cy="925196"/>
              </a:xfrm>
              <a:prstGeom prst="ellipse">
                <a:avLst/>
              </a:prstGeom>
              <a:grpFill/>
              <a:ln w="76200">
                <a:solidFill>
                  <a:srgbClr val="001F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3991E6B2-2D9F-CD14-CE5F-409AFB6050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2002510" y="4416037"/>
                <a:ext cx="492017" cy="492017"/>
              </a:xfrm>
              <a:prstGeom prst="rect">
                <a:avLst/>
              </a:prstGeom>
              <a:grpFill/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7489ED-F85C-F6C3-CFBD-017E9918C33F}"/>
                </a:ext>
              </a:extLst>
            </p:cNvPr>
            <p:cNvSpPr txBox="1"/>
            <p:nvPr/>
          </p:nvSpPr>
          <p:spPr>
            <a:xfrm>
              <a:off x="1354432" y="4658077"/>
              <a:ext cx="4603431" cy="61510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CA" sz="1200">
                  <a:solidFill>
                    <a:schemeClr val="bg1"/>
                  </a:solidFill>
                  <a:latin typeface="Montserrat" pitchFamily="2" charset="77"/>
                  <a:ea typeface="+mn-lt"/>
                  <a:cs typeface="+mn-lt"/>
                </a:rPr>
                <a:t>Monitor the air gap by means of a control system to adjust the force and system accordingly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597B19B-168E-1875-3131-3D3DCAF62B9F}"/>
              </a:ext>
            </a:extLst>
          </p:cNvPr>
          <p:cNvGrpSpPr/>
          <p:nvPr/>
        </p:nvGrpSpPr>
        <p:grpSpPr>
          <a:xfrm>
            <a:off x="407069" y="5108270"/>
            <a:ext cx="5561945" cy="925196"/>
            <a:chOff x="395918" y="5776110"/>
            <a:chExt cx="5561945" cy="925196"/>
          </a:xfrm>
          <a:solidFill>
            <a:srgbClr val="182650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FA11954-DA46-2231-B4A6-2B7C5370728A}"/>
                </a:ext>
              </a:extLst>
            </p:cNvPr>
            <p:cNvSpPr/>
            <p:nvPr/>
          </p:nvSpPr>
          <p:spPr>
            <a:xfrm>
              <a:off x="1060339" y="5776110"/>
              <a:ext cx="4897524" cy="925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E33AC1B-E448-43CA-5FFA-4464AE0163FD}"/>
                </a:ext>
              </a:extLst>
            </p:cNvPr>
            <p:cNvGrpSpPr/>
            <p:nvPr/>
          </p:nvGrpSpPr>
          <p:grpSpPr>
            <a:xfrm>
              <a:off x="395918" y="5776110"/>
              <a:ext cx="925196" cy="925196"/>
              <a:chOff x="1785921" y="4199448"/>
              <a:chExt cx="925196" cy="925196"/>
            </a:xfrm>
            <a:grpFill/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69B0AFE-1792-3303-43BA-258C8ECADFA3}"/>
                  </a:ext>
                </a:extLst>
              </p:cNvPr>
              <p:cNvSpPr/>
              <p:nvPr/>
            </p:nvSpPr>
            <p:spPr>
              <a:xfrm>
                <a:off x="1785921" y="4199448"/>
                <a:ext cx="925196" cy="925196"/>
              </a:xfrm>
              <a:prstGeom prst="ellipse">
                <a:avLst/>
              </a:prstGeom>
              <a:grpFill/>
              <a:ln w="76200">
                <a:solidFill>
                  <a:srgbClr val="001F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00AED0C-B1C9-8517-B557-3B3DFF48C9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/>
              <a:stretch/>
            </p:blipFill>
            <p:spPr>
              <a:xfrm>
                <a:off x="2002510" y="4416037"/>
                <a:ext cx="492017" cy="492017"/>
              </a:xfrm>
              <a:prstGeom prst="rect">
                <a:avLst/>
              </a:prstGeom>
              <a:grpFill/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F0DFFB-71BB-C20B-6619-523273119218}"/>
                </a:ext>
              </a:extLst>
            </p:cNvPr>
            <p:cNvSpPr txBox="1"/>
            <p:nvPr/>
          </p:nvSpPr>
          <p:spPr>
            <a:xfrm>
              <a:off x="1409790" y="6069654"/>
              <a:ext cx="4548073" cy="33810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CA" sz="1200">
                  <a:solidFill>
                    <a:schemeClr val="bg1"/>
                  </a:solidFill>
                  <a:latin typeface="Montserrat" pitchFamily="2" charset="77"/>
                  <a:ea typeface="+mn-lt"/>
                  <a:cs typeface="+mn-lt"/>
                </a:rPr>
                <a:t>Approximately 5-10mm air gap </a:t>
              </a:r>
              <a:endParaRPr lang="en-CA" sz="1200">
                <a:solidFill>
                  <a:schemeClr val="bg1"/>
                </a:solidFill>
                <a:latin typeface="Montserrat" pitchFamily="2" charset="77"/>
                <a:cs typeface="Poppins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B58C632-0572-837C-5DFE-85361FE41A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E2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664F08-6EB5-419E-E711-3CDF94494E74}"/>
              </a:ext>
            </a:extLst>
          </p:cNvPr>
          <p:cNvSpPr/>
          <p:nvPr/>
        </p:nvSpPr>
        <p:spPr>
          <a:xfrm>
            <a:off x="1995126" y="2569402"/>
            <a:ext cx="8410566" cy="1872062"/>
          </a:xfrm>
          <a:prstGeom prst="rect">
            <a:avLst/>
          </a:prstGeom>
          <a:solidFill>
            <a:srgbClr val="BA1F34"/>
          </a:solidFill>
          <a:ln>
            <a:solidFill>
              <a:srgbClr val="BA1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Montserrat"/>
              </a:rPr>
              <a:t>The Objective:</a:t>
            </a:r>
            <a:br>
              <a:rPr lang="en-US">
                <a:solidFill>
                  <a:srgbClr val="FFFFFF"/>
                </a:solidFill>
                <a:latin typeface="Montserrat" panose="00000500000000000000" pitchFamily="2" charset="0"/>
              </a:rPr>
            </a:br>
            <a:r>
              <a:rPr lang="en-US" sz="1800">
                <a:solidFill>
                  <a:srgbClr val="FFFFFF"/>
                </a:solidFill>
                <a:latin typeface="Montserrat"/>
              </a:rPr>
              <a:t>Create a magnetic levitation system</a:t>
            </a:r>
            <a:r>
              <a:rPr lang="en-US">
                <a:solidFill>
                  <a:srgbClr val="FFFFFF"/>
                </a:solidFill>
                <a:latin typeface="Montserrat"/>
              </a:rPr>
              <a:t> to control </a:t>
            </a:r>
            <a:r>
              <a:rPr lang="en-US" sz="1800">
                <a:solidFill>
                  <a:srgbClr val="FFFFFF"/>
                </a:solidFill>
                <a:latin typeface="Montserrat"/>
              </a:rPr>
              <a:t>the </a:t>
            </a:r>
            <a:r>
              <a:rPr lang="en-US">
                <a:solidFill>
                  <a:srgbClr val="FFFFFF"/>
                </a:solidFill>
                <a:latin typeface="Montserrat"/>
              </a:rPr>
              <a:t>air gap distance by means of the forces generated by the electromagnets.</a:t>
            </a:r>
            <a:endParaRPr lang="en-US" sz="18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2D215D-6D91-B8CE-8085-B986C5F73994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3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9337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F3113-66C8-8073-7AF8-F286F3AA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5995C5-6BA9-1649-E866-2E2B7243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CA" sz="2700">
                <a:solidFill>
                  <a:srgbClr val="FABD12"/>
                </a:solidFill>
                <a:latin typeface="Montserrat" panose="00000500000000000000" pitchFamily="2" charset="0"/>
                <a:cs typeface="Poppins" pitchFamily="2" charset="77"/>
              </a:rPr>
              <a:t>Section 2</a:t>
            </a:r>
            <a:br>
              <a:rPr lang="en-CA" sz="36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</a:br>
            <a:r>
              <a:rPr lang="en-CA" sz="72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  <a:t>Solution Breakdown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6571CB-9ED0-8DE9-FCA2-007310848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6049" y="439335"/>
            <a:ext cx="2944429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6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9ADC-2EC8-ECD6-034D-76456105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96A957-3409-F3AD-9ECC-C7B02BC7B96E}"/>
              </a:ext>
            </a:extLst>
          </p:cNvPr>
          <p:cNvSpPr txBox="1"/>
          <p:nvPr/>
        </p:nvSpPr>
        <p:spPr>
          <a:xfrm>
            <a:off x="1018168" y="624913"/>
            <a:ext cx="3488455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Solution Breakdown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6FD6FB5-5CDF-01AD-40D6-DE0BDACC588B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F94DF2A7-17D9-C34A-46E7-9D7FAC4E8C06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E8462E-738E-B0E1-9C28-CBDD13A559F9}"/>
              </a:ext>
            </a:extLst>
          </p:cNvPr>
          <p:cNvSpPr/>
          <p:nvPr/>
        </p:nvSpPr>
        <p:spPr>
          <a:xfrm>
            <a:off x="11565734" y="6155559"/>
            <a:ext cx="312316" cy="312316"/>
          </a:xfrm>
          <a:prstGeom prst="rect">
            <a:avLst/>
          </a:prstGeom>
          <a:solidFill>
            <a:srgbClr val="001E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latin typeface="Montserrat" panose="00000500000000000000" pitchFamily="2" charset="0"/>
              </a:rPr>
              <a:t>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234284-6770-1A78-42D0-A6F3FEE49C14}"/>
              </a:ext>
            </a:extLst>
          </p:cNvPr>
          <p:cNvGrpSpPr/>
          <p:nvPr/>
        </p:nvGrpSpPr>
        <p:grpSpPr>
          <a:xfrm>
            <a:off x="8238563" y="1436914"/>
            <a:ext cx="4828674" cy="5421086"/>
            <a:chOff x="6139131" y="1425000"/>
            <a:chExt cx="3473220" cy="5421086"/>
          </a:xfrm>
          <a:solidFill>
            <a:srgbClr val="BA1F34"/>
          </a:solidFill>
        </p:grpSpPr>
        <p:sp>
          <p:nvSpPr>
            <p:cNvPr id="6" name="Triangle 19">
              <a:extLst>
                <a:ext uri="{FF2B5EF4-FFF2-40B4-BE49-F238E27FC236}">
                  <a16:creationId xmlns:a16="http://schemas.microsoft.com/office/drawing/2014/main" id="{9222125D-7DFD-E245-18D7-1B9E770AA881}"/>
                </a:ext>
              </a:extLst>
            </p:cNvPr>
            <p:cNvSpPr/>
            <p:nvPr/>
          </p:nvSpPr>
          <p:spPr>
            <a:xfrm rot="5400000">
              <a:off x="8937304" y="1966025"/>
              <a:ext cx="881743" cy="4683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3A70A4-36FC-A722-62EF-7FDBB31509D3}"/>
                </a:ext>
              </a:extLst>
            </p:cNvPr>
            <p:cNvSpPr/>
            <p:nvPr/>
          </p:nvSpPr>
          <p:spPr>
            <a:xfrm>
              <a:off x="6139131" y="1425000"/>
              <a:ext cx="3048000" cy="5421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155901-3095-E343-CCF1-BF2A7B512B13}"/>
                </a:ext>
              </a:extLst>
            </p:cNvPr>
            <p:cNvSpPr txBox="1"/>
            <p:nvPr/>
          </p:nvSpPr>
          <p:spPr>
            <a:xfrm>
              <a:off x="6186941" y="4196749"/>
              <a:ext cx="2888166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Montserrat" pitchFamily="2" charset="77"/>
                </a:rPr>
                <a:t>Simulation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374529-EA0A-7D13-12A7-45383896127D}"/>
                </a:ext>
              </a:extLst>
            </p:cNvPr>
            <p:cNvSpPr txBox="1"/>
            <p:nvPr/>
          </p:nvSpPr>
          <p:spPr>
            <a:xfrm>
              <a:off x="7145254" y="2292360"/>
              <a:ext cx="991892" cy="193899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0" b="1">
                  <a:solidFill>
                    <a:schemeClr val="bg1"/>
                  </a:solidFill>
                  <a:latin typeface="Montserrat" pitchFamily="2" charset="77"/>
                </a:rPr>
                <a:t>3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DC1CEE-43C7-94CF-EC39-ED4398646B3F}"/>
              </a:ext>
            </a:extLst>
          </p:cNvPr>
          <p:cNvGrpSpPr/>
          <p:nvPr/>
        </p:nvGrpSpPr>
        <p:grpSpPr>
          <a:xfrm>
            <a:off x="4143121" y="1436914"/>
            <a:ext cx="4791913" cy="5421086"/>
            <a:chOff x="3048000" y="1436914"/>
            <a:chExt cx="3516351" cy="5421086"/>
          </a:xfrm>
          <a:solidFill>
            <a:srgbClr val="FABD12"/>
          </a:solidFill>
        </p:grpSpPr>
        <p:sp>
          <p:nvSpPr>
            <p:cNvPr id="12" name="Triangle 17">
              <a:extLst>
                <a:ext uri="{FF2B5EF4-FFF2-40B4-BE49-F238E27FC236}">
                  <a16:creationId xmlns:a16="http://schemas.microsoft.com/office/drawing/2014/main" id="{7B62A72F-D433-4CBB-01F4-D1679681D2BC}"/>
                </a:ext>
              </a:extLst>
            </p:cNvPr>
            <p:cNvSpPr/>
            <p:nvPr/>
          </p:nvSpPr>
          <p:spPr>
            <a:xfrm rot="5400000">
              <a:off x="5889304" y="1966025"/>
              <a:ext cx="881743" cy="4683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685753D-180F-7C43-C428-737DAD60C1A9}"/>
                </a:ext>
              </a:extLst>
            </p:cNvPr>
            <p:cNvSpPr/>
            <p:nvPr/>
          </p:nvSpPr>
          <p:spPr>
            <a:xfrm>
              <a:off x="3048000" y="1436914"/>
              <a:ext cx="3048000" cy="5421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5AF9CF-52C3-C781-D6D9-8EDF76A560C8}"/>
                </a:ext>
              </a:extLst>
            </p:cNvPr>
            <p:cNvSpPr txBox="1"/>
            <p:nvPr/>
          </p:nvSpPr>
          <p:spPr>
            <a:xfrm>
              <a:off x="4073471" y="2208465"/>
              <a:ext cx="991892" cy="193899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0" b="1">
                  <a:solidFill>
                    <a:schemeClr val="bg1"/>
                  </a:solidFill>
                  <a:latin typeface="Montserrat" pitchFamily="2" charset="77"/>
                </a:rPr>
                <a:t>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3F25E4-4F30-C0A6-96D3-C91EE45626F7}"/>
                </a:ext>
              </a:extLst>
            </p:cNvPr>
            <p:cNvSpPr txBox="1"/>
            <p:nvPr/>
          </p:nvSpPr>
          <p:spPr>
            <a:xfrm>
              <a:off x="3116893" y="4196749"/>
              <a:ext cx="2888166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Montserrat" pitchFamily="2" charset="77"/>
                </a:rPr>
                <a:t>Control System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C307A3F-78C7-2FD7-4B2F-ABCFB981B078}"/>
                </a:ext>
              </a:extLst>
            </p:cNvPr>
            <p:cNvSpPr txBox="1"/>
            <p:nvPr/>
          </p:nvSpPr>
          <p:spPr>
            <a:xfrm>
              <a:off x="3246266" y="5064628"/>
              <a:ext cx="262511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>
                <a:solidFill>
                  <a:schemeClr val="bg1"/>
                </a:solidFill>
                <a:latin typeface="Montserrat" pitchFamily="2" charset="77"/>
              </a:endParaRPr>
            </a:p>
          </p:txBody>
        </p:sp>
      </p:grpSp>
      <p:pic>
        <p:nvPicPr>
          <p:cNvPr id="21" name="Picture 2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74F65D3-1C57-294A-34D2-437593B4B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F4DB5BC-F9DF-C90E-5174-5A66B4C8FA31}"/>
              </a:ext>
            </a:extLst>
          </p:cNvPr>
          <p:cNvGrpSpPr/>
          <p:nvPr/>
        </p:nvGrpSpPr>
        <p:grpSpPr>
          <a:xfrm>
            <a:off x="0" y="1444135"/>
            <a:ext cx="4791912" cy="5442149"/>
            <a:chOff x="0" y="1436914"/>
            <a:chExt cx="3516350" cy="5421086"/>
          </a:xfrm>
          <a:solidFill>
            <a:srgbClr val="182650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547387-F26A-011B-83B1-5990F061C3EC}"/>
                </a:ext>
              </a:extLst>
            </p:cNvPr>
            <p:cNvSpPr/>
            <p:nvPr/>
          </p:nvSpPr>
          <p:spPr>
            <a:xfrm>
              <a:off x="0" y="1436914"/>
              <a:ext cx="3048000" cy="5421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riangle 16">
              <a:extLst>
                <a:ext uri="{FF2B5EF4-FFF2-40B4-BE49-F238E27FC236}">
                  <a16:creationId xmlns:a16="http://schemas.microsoft.com/office/drawing/2014/main" id="{B0FC479E-A275-7DBA-C63F-75FB90A0C3AD}"/>
                </a:ext>
              </a:extLst>
            </p:cNvPr>
            <p:cNvSpPr/>
            <p:nvPr/>
          </p:nvSpPr>
          <p:spPr>
            <a:xfrm rot="5400000">
              <a:off x="2841303" y="1966025"/>
              <a:ext cx="881743" cy="4683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638D96-0568-5E67-D29C-DDD40AF23102}"/>
                </a:ext>
              </a:extLst>
            </p:cNvPr>
            <p:cNvSpPr txBox="1"/>
            <p:nvPr/>
          </p:nvSpPr>
          <p:spPr>
            <a:xfrm>
              <a:off x="1028054" y="2200199"/>
              <a:ext cx="991892" cy="193899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0" b="1">
                  <a:solidFill>
                    <a:schemeClr val="bg1"/>
                  </a:solidFill>
                  <a:latin typeface="Montserrat" pitchFamily="2" charset="77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5D96C6B-5561-DFFA-14CE-FC180211B5AE}"/>
                </a:ext>
              </a:extLst>
            </p:cNvPr>
            <p:cNvSpPr txBox="1"/>
            <p:nvPr/>
          </p:nvSpPr>
          <p:spPr>
            <a:xfrm>
              <a:off x="68893" y="4150753"/>
              <a:ext cx="2888166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Montserrat" pitchFamily="2" charset="77"/>
                </a:rPr>
                <a:t>Mechanical System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61BA68-C896-D38D-E06A-1E13DF2871F0}"/>
                </a:ext>
              </a:extLst>
            </p:cNvPr>
            <p:cNvSpPr txBox="1"/>
            <p:nvPr/>
          </p:nvSpPr>
          <p:spPr>
            <a:xfrm>
              <a:off x="211079" y="5071472"/>
              <a:ext cx="262511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>
                <a:latin typeface="Montserrat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31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47C48-2760-1DAF-0BF8-10FFE182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39457F-FE4C-C2D2-0624-061943B0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CA" sz="2700">
                <a:solidFill>
                  <a:srgbClr val="FABD12"/>
                </a:solidFill>
                <a:latin typeface="Montserrat" panose="00000500000000000000" pitchFamily="2" charset="0"/>
                <a:cs typeface="Poppins" pitchFamily="2" charset="77"/>
              </a:rPr>
              <a:t>Section 3</a:t>
            </a:r>
            <a:br>
              <a:rPr lang="en-CA" sz="36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</a:br>
            <a:r>
              <a:rPr lang="en-CA" sz="72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  <a:t>Mechanical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708C9D-C4FC-9D98-03C2-57054D1CB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6049" y="439335"/>
            <a:ext cx="2944429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6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9954B-E233-5CB3-86CD-82ED34FE103B}"/>
              </a:ext>
            </a:extLst>
          </p:cNvPr>
          <p:cNvSpPr txBox="1"/>
          <p:nvPr/>
        </p:nvSpPr>
        <p:spPr>
          <a:xfrm>
            <a:off x="1018168" y="501803"/>
            <a:ext cx="3387466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Mass Spring Models</a:t>
            </a:r>
          </a:p>
          <a:p>
            <a:r>
              <a:rPr lang="en-US" sz="1600">
                <a:latin typeface="Montserrat"/>
              </a:rPr>
              <a:t>Mechanical System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91D18B7B-9D6C-D7B0-7AC2-B55951D006CE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DAE49380-0302-5B58-93D4-69412405F90C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7C3CDED-C7DD-F5AC-83F3-774250FEA371}"/>
              </a:ext>
            </a:extLst>
          </p:cNvPr>
          <p:cNvSpPr/>
          <p:nvPr/>
        </p:nvSpPr>
        <p:spPr>
          <a:xfrm>
            <a:off x="643309" y="1568016"/>
            <a:ext cx="4804020" cy="4541899"/>
          </a:xfrm>
          <a:prstGeom prst="roundRect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D44905-8251-C2D4-0585-4DC2EA16D4B9}"/>
              </a:ext>
            </a:extLst>
          </p:cNvPr>
          <p:cNvSpPr txBox="1"/>
          <p:nvPr/>
        </p:nvSpPr>
        <p:spPr>
          <a:xfrm>
            <a:off x="2217274" y="2221158"/>
            <a:ext cx="1622560" cy="338554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Montserrat" panose="00000500000000000000" pitchFamily="2" charset="0"/>
              </a:rPr>
              <a:t>Geographical</a:t>
            </a:r>
            <a:endParaRPr lang="en-CA" sz="1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D4AF86-36AF-CA84-7DB7-9EF441163BD6}"/>
              </a:ext>
            </a:extLst>
          </p:cNvPr>
          <p:cNvSpPr txBox="1"/>
          <p:nvPr/>
        </p:nvSpPr>
        <p:spPr>
          <a:xfrm>
            <a:off x="1093417" y="5190172"/>
            <a:ext cx="3781824" cy="307777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Mass-Spring system of the rail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22B65B-2CD0-AC49-3B87-BF8D51E148FF}"/>
              </a:ext>
            </a:extLst>
          </p:cNvPr>
          <p:cNvCxnSpPr>
            <a:cxnSpLocks/>
          </p:cNvCxnSpPr>
          <p:nvPr/>
        </p:nvCxnSpPr>
        <p:spPr>
          <a:xfrm>
            <a:off x="2379876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Earth Globe - Asia with solid fill">
            <a:extLst>
              <a:ext uri="{FF2B5EF4-FFF2-40B4-BE49-F238E27FC236}">
                <a16:creationId xmlns:a16="http://schemas.microsoft.com/office/drawing/2014/main" id="{8258763E-362D-59BB-42F2-31B4536B8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476506" y="2764307"/>
            <a:ext cx="1104080" cy="1104080"/>
          </a:xfrm>
          <a:prstGeom prst="flowChartConnector">
            <a:avLst/>
          </a:prstGeom>
          <a:noFill/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7926BE4-F8CA-1826-A6C2-5E459B2A6672}"/>
              </a:ext>
            </a:extLst>
          </p:cNvPr>
          <p:cNvSpPr/>
          <p:nvPr/>
        </p:nvSpPr>
        <p:spPr>
          <a:xfrm>
            <a:off x="12669883" y="1568017"/>
            <a:ext cx="2579914" cy="3842657"/>
          </a:xfrm>
          <a:prstGeom prst="roundRect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6E8DD4-5384-B3FB-9A4A-A085C8FE2AC3}"/>
              </a:ext>
            </a:extLst>
          </p:cNvPr>
          <p:cNvCxnSpPr/>
          <p:nvPr/>
        </p:nvCxnSpPr>
        <p:spPr>
          <a:xfrm>
            <a:off x="5447329" y="5410674"/>
            <a:ext cx="1297339" cy="0"/>
          </a:xfrm>
          <a:prstGeom prst="line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BEAE5FF-925C-6351-BBC3-60911D221559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pic>
        <p:nvPicPr>
          <p:cNvPr id="5" name="Picture 4" descr="A diagram of a rail vibration&#10;&#10;AI-generated content may be incorrect.">
            <a:extLst>
              <a:ext uri="{FF2B5EF4-FFF2-40B4-BE49-F238E27FC236}">
                <a16:creationId xmlns:a16="http://schemas.microsoft.com/office/drawing/2014/main" id="{3ED2A35F-2413-23C5-2DF2-F054B4A3B2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708" b="12578"/>
          <a:stretch/>
        </p:blipFill>
        <p:spPr>
          <a:xfrm>
            <a:off x="1249345" y="2068354"/>
            <a:ext cx="3558399" cy="2961240"/>
          </a:xfrm>
          <a:prstGeom prst="rect">
            <a:avLst/>
          </a:prstGeom>
        </p:spPr>
      </p:pic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C4C258B8-22E8-0A9D-AD5C-54385A3BD009}"/>
              </a:ext>
            </a:extLst>
          </p:cNvPr>
          <p:cNvSpPr>
            <a:spLocks/>
          </p:cNvSpPr>
          <p:nvPr/>
        </p:nvSpPr>
        <p:spPr>
          <a:xfrm>
            <a:off x="6439225" y="1585592"/>
            <a:ext cx="4804020" cy="4541899"/>
          </a:xfrm>
          <a:prstGeom prst="roundRect">
            <a:avLst/>
          </a:prstGeom>
          <a:solidFill>
            <a:srgbClr val="BA1F3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 descr="A diagram of a device&#10;&#10;AI-generated content may be incorrect.">
            <a:extLst>
              <a:ext uri="{FF2B5EF4-FFF2-40B4-BE49-F238E27FC236}">
                <a16:creationId xmlns:a16="http://schemas.microsoft.com/office/drawing/2014/main" id="{B8A2E95C-0367-98D6-BB6B-39E63A958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5291" r="14187" b="10285"/>
          <a:stretch/>
        </p:blipFill>
        <p:spPr>
          <a:xfrm>
            <a:off x="7287493" y="2068354"/>
            <a:ext cx="3222012" cy="3010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E020B9-E86E-9D39-8B49-74258B29BC18}"/>
              </a:ext>
            </a:extLst>
          </p:cNvPr>
          <p:cNvSpPr txBox="1">
            <a:spLocks/>
          </p:cNvSpPr>
          <p:nvPr/>
        </p:nvSpPr>
        <p:spPr>
          <a:xfrm>
            <a:off x="7201379" y="5190172"/>
            <a:ext cx="3632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Mass-Spring system of the electromagnet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EEE3F82-93FB-DFE5-8944-795D5F2E9711}"/>
              </a:ext>
            </a:extLst>
          </p:cNvPr>
          <p:cNvCxnSpPr>
            <a:cxnSpLocks/>
          </p:cNvCxnSpPr>
          <p:nvPr/>
        </p:nvCxnSpPr>
        <p:spPr>
          <a:xfrm>
            <a:off x="8369007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1BB7B4-83AF-236C-2883-064E4BEA1D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4BFEE-EF50-DC3D-4DD9-126877D5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972302-C3A6-8DBE-55FF-DAB9811A8046}"/>
              </a:ext>
            </a:extLst>
          </p:cNvPr>
          <p:cNvSpPr txBox="1"/>
          <p:nvPr/>
        </p:nvSpPr>
        <p:spPr>
          <a:xfrm>
            <a:off x="1018168" y="501803"/>
            <a:ext cx="3387466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Mass Spring Models</a:t>
            </a:r>
          </a:p>
          <a:p>
            <a:r>
              <a:rPr lang="en-US" sz="1600">
                <a:latin typeface="Montserrat"/>
              </a:rPr>
              <a:t>Mechanical System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54559E34-57A7-3AEE-DD31-BF595043194C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FE0A2143-D8BA-5E92-CDBE-15886451CC04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E3C8C7-C57C-DF7E-7C18-8E3B64B39DFD}"/>
              </a:ext>
            </a:extLst>
          </p:cNvPr>
          <p:cNvSpPr/>
          <p:nvPr/>
        </p:nvSpPr>
        <p:spPr>
          <a:xfrm>
            <a:off x="643309" y="1568016"/>
            <a:ext cx="4804020" cy="4541899"/>
          </a:xfrm>
          <a:prstGeom prst="roundRect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4E54BE-5C79-8DBA-8662-DE30375F0B1C}"/>
              </a:ext>
            </a:extLst>
          </p:cNvPr>
          <p:cNvSpPr txBox="1"/>
          <p:nvPr/>
        </p:nvSpPr>
        <p:spPr>
          <a:xfrm>
            <a:off x="2217274" y="2221158"/>
            <a:ext cx="1622560" cy="338554"/>
          </a:xfrm>
          <a:prstGeom prst="rect">
            <a:avLst/>
          </a:prstGeom>
          <a:solidFill>
            <a:srgbClr val="1826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Montserrat" panose="00000500000000000000" pitchFamily="2" charset="0"/>
              </a:rPr>
              <a:t>Geographical</a:t>
            </a:r>
            <a:endParaRPr lang="en-CA" sz="1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154B87-5D99-CF2D-0FDB-2A312FF91E5E}"/>
              </a:ext>
            </a:extLst>
          </p:cNvPr>
          <p:cNvSpPr txBox="1"/>
          <p:nvPr/>
        </p:nvSpPr>
        <p:spPr>
          <a:xfrm>
            <a:off x="1093417" y="5190172"/>
            <a:ext cx="3781824" cy="523220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1: Mass-Spring system of the rail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1B2F7D-2FBE-E426-4354-C4B9337747EE}"/>
              </a:ext>
            </a:extLst>
          </p:cNvPr>
          <p:cNvCxnSpPr/>
          <p:nvPr/>
        </p:nvCxnSpPr>
        <p:spPr>
          <a:xfrm>
            <a:off x="2379876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Earth Globe - Asia with solid fill">
            <a:extLst>
              <a:ext uri="{FF2B5EF4-FFF2-40B4-BE49-F238E27FC236}">
                <a16:creationId xmlns:a16="http://schemas.microsoft.com/office/drawing/2014/main" id="{A5773B1E-6AEE-AA45-31C9-D41C77212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476506" y="2764307"/>
            <a:ext cx="1104080" cy="1104080"/>
          </a:xfrm>
          <a:prstGeom prst="flowChartConnector">
            <a:avLst/>
          </a:prstGeom>
          <a:noFill/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BBE5B2-D922-5E0E-4948-A7E446DC92C3}"/>
              </a:ext>
            </a:extLst>
          </p:cNvPr>
          <p:cNvSpPr/>
          <p:nvPr/>
        </p:nvSpPr>
        <p:spPr>
          <a:xfrm>
            <a:off x="12669883" y="1568017"/>
            <a:ext cx="2579914" cy="3842657"/>
          </a:xfrm>
          <a:prstGeom prst="roundRect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24B794-E20F-2797-5208-C852D26CDA54}"/>
              </a:ext>
            </a:extLst>
          </p:cNvPr>
          <p:cNvCxnSpPr/>
          <p:nvPr/>
        </p:nvCxnSpPr>
        <p:spPr>
          <a:xfrm>
            <a:off x="5447329" y="5410674"/>
            <a:ext cx="1297339" cy="0"/>
          </a:xfrm>
          <a:prstGeom prst="line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7C3FF1C-31D3-6476-48C2-9B2CB914A92F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4BB0C320-D720-3B69-2BD0-F825D990B664}"/>
              </a:ext>
            </a:extLst>
          </p:cNvPr>
          <p:cNvSpPr/>
          <p:nvPr/>
        </p:nvSpPr>
        <p:spPr>
          <a:xfrm>
            <a:off x="6486668" y="1486297"/>
            <a:ext cx="4804020" cy="4541899"/>
          </a:xfrm>
          <a:prstGeom prst="roundRect">
            <a:avLst/>
          </a:prstGeom>
          <a:solidFill>
            <a:srgbClr val="BA1F3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 descr="A diagram of a device&#10;&#10;AI-generated content may be incorrect.">
            <a:extLst>
              <a:ext uri="{FF2B5EF4-FFF2-40B4-BE49-F238E27FC236}">
                <a16:creationId xmlns:a16="http://schemas.microsoft.com/office/drawing/2014/main" id="{52D72B61-67D2-2C18-036A-8D0F91E624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5291" r="14187" b="10285"/>
          <a:stretch/>
        </p:blipFill>
        <p:spPr>
          <a:xfrm>
            <a:off x="7287493" y="2068354"/>
            <a:ext cx="3222012" cy="3010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1B2575-CEB8-7D8D-237E-84C2B5CDBE70}"/>
              </a:ext>
            </a:extLst>
          </p:cNvPr>
          <p:cNvSpPr txBox="1"/>
          <p:nvPr/>
        </p:nvSpPr>
        <p:spPr>
          <a:xfrm>
            <a:off x="7201379" y="5190172"/>
            <a:ext cx="3632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2: Mass-Spring system of the electromagnet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F90D82-2BF7-E040-B7F4-CC6BECFA8126}"/>
              </a:ext>
            </a:extLst>
          </p:cNvPr>
          <p:cNvCxnSpPr/>
          <p:nvPr/>
        </p:nvCxnSpPr>
        <p:spPr>
          <a:xfrm>
            <a:off x="8369007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94326E5-C814-3F87-F384-D49E049429A2}"/>
              </a:ext>
            </a:extLst>
          </p:cNvPr>
          <p:cNvSpPr/>
          <p:nvPr/>
        </p:nvSpPr>
        <p:spPr>
          <a:xfrm>
            <a:off x="194570" y="1414286"/>
            <a:ext cx="11126501" cy="46859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>
              <a:solidFill>
                <a:schemeClr val="tx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0A3972-43ED-7070-66C7-F9D07E431F22}"/>
              </a:ext>
            </a:extLst>
          </p:cNvPr>
          <p:cNvGrpSpPr/>
          <p:nvPr/>
        </p:nvGrpSpPr>
        <p:grpSpPr>
          <a:xfrm>
            <a:off x="5928878" y="2608196"/>
            <a:ext cx="5392193" cy="2501687"/>
            <a:chOff x="801857" y="2110144"/>
            <a:chExt cx="5392193" cy="250168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81783B9-3498-7DE3-DB59-8638E231134B}"/>
                </a:ext>
              </a:extLst>
            </p:cNvPr>
            <p:cNvSpPr/>
            <p:nvPr/>
          </p:nvSpPr>
          <p:spPr>
            <a:xfrm>
              <a:off x="1359419" y="2110144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Spring Constant of the rail [N/m]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25D7635-BE5E-A1CD-EF1D-1E040D8970A0}"/>
                </a:ext>
              </a:extLst>
            </p:cNvPr>
            <p:cNvSpPr/>
            <p:nvPr/>
          </p:nvSpPr>
          <p:spPr>
            <a:xfrm>
              <a:off x="801858" y="2110144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K</a:t>
              </a:r>
              <a:r>
                <a:rPr lang="en-US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5C1EC52-588C-B421-C5BF-D46606AD11DB}"/>
                </a:ext>
              </a:extLst>
            </p:cNvPr>
            <p:cNvSpPr/>
            <p:nvPr/>
          </p:nvSpPr>
          <p:spPr>
            <a:xfrm>
              <a:off x="1359419" y="3007046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between the rail and electromagnet [m]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480CCF-660B-C8E1-50B7-CD78379DC037}"/>
                </a:ext>
              </a:extLst>
            </p:cNvPr>
            <p:cNvSpPr/>
            <p:nvPr/>
          </p:nvSpPr>
          <p:spPr>
            <a:xfrm>
              <a:off x="801858" y="3007046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9D9449F-4B8B-4092-F942-6465A900FE60}"/>
                </a:ext>
              </a:extLst>
            </p:cNvPr>
            <p:cNvSpPr/>
            <p:nvPr/>
          </p:nvSpPr>
          <p:spPr>
            <a:xfrm>
              <a:off x="1359419" y="3903948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Mass of the electromagnet [kg]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1497778-DA8E-0C1D-5D32-6FFF3A2A9811}"/>
                </a:ext>
              </a:extLst>
            </p:cNvPr>
            <p:cNvSpPr/>
            <p:nvPr/>
          </p:nvSpPr>
          <p:spPr>
            <a:xfrm>
              <a:off x="801857" y="3903948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m</a:t>
              </a:r>
              <a:r>
                <a:rPr lang="en-US" sz="1500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5" name="Picture 4" descr="A diagram of a rail vibration&#10;&#10;AI-generated content may be incorrect.">
            <a:extLst>
              <a:ext uri="{FF2B5EF4-FFF2-40B4-BE49-F238E27FC236}">
                <a16:creationId xmlns:a16="http://schemas.microsoft.com/office/drawing/2014/main" id="{A6D91C5D-D8F2-082F-8E88-56905C044F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708" b="12578"/>
          <a:stretch/>
        </p:blipFill>
        <p:spPr>
          <a:xfrm>
            <a:off x="1249345" y="2068354"/>
            <a:ext cx="3558399" cy="2961240"/>
          </a:xfrm>
          <a:prstGeom prst="rect">
            <a:avLst/>
          </a:prstGeom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09FE2D6C-897D-046E-2D3B-DE269F8D216A}"/>
              </a:ext>
            </a:extLst>
          </p:cNvPr>
          <p:cNvCxnSpPr/>
          <p:nvPr/>
        </p:nvCxnSpPr>
        <p:spPr>
          <a:xfrm flipV="1">
            <a:off x="3337560" y="2914650"/>
            <a:ext cx="2420261" cy="590448"/>
          </a:xfrm>
          <a:prstGeom prst="bentConnector3">
            <a:avLst/>
          </a:prstGeom>
          <a:ln w="28575">
            <a:solidFill>
              <a:srgbClr val="1826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6DC3AC9-1080-72A8-8778-29085C4757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8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6ED4C-ADF5-8B20-D994-2430FF53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97A67E-3345-9AC8-9692-23A2D6ACEE90}"/>
              </a:ext>
            </a:extLst>
          </p:cNvPr>
          <p:cNvSpPr txBox="1"/>
          <p:nvPr/>
        </p:nvSpPr>
        <p:spPr>
          <a:xfrm>
            <a:off x="1018168" y="501803"/>
            <a:ext cx="3387466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Mass Spring Models</a:t>
            </a:r>
          </a:p>
          <a:p>
            <a:r>
              <a:rPr lang="en-US" sz="1600">
                <a:latin typeface="Montserrat"/>
              </a:rPr>
              <a:t>Mechanical System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A344E2ED-B4F8-9BB2-1357-BFCE5372B597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5557CD1-1C7D-157D-5E40-2346D4B01228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03DE57-2E01-C86E-0FDE-A25F5F5642AF}"/>
              </a:ext>
            </a:extLst>
          </p:cNvPr>
          <p:cNvSpPr/>
          <p:nvPr/>
        </p:nvSpPr>
        <p:spPr>
          <a:xfrm>
            <a:off x="643309" y="1568016"/>
            <a:ext cx="4804020" cy="4541899"/>
          </a:xfrm>
          <a:prstGeom prst="roundRect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4E7ABE-E816-4AEB-679B-2DDF16167DA5}"/>
              </a:ext>
            </a:extLst>
          </p:cNvPr>
          <p:cNvSpPr txBox="1"/>
          <p:nvPr/>
        </p:nvSpPr>
        <p:spPr>
          <a:xfrm>
            <a:off x="2217274" y="2221158"/>
            <a:ext cx="1622560" cy="338554"/>
          </a:xfrm>
          <a:prstGeom prst="rect">
            <a:avLst/>
          </a:prstGeom>
          <a:solidFill>
            <a:srgbClr val="1826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Montserrat" panose="00000500000000000000" pitchFamily="2" charset="0"/>
              </a:rPr>
              <a:t>Geographical</a:t>
            </a:r>
            <a:endParaRPr lang="en-CA" sz="1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A01C2D-5F75-2DEF-2BBB-B260EC4F6B56}"/>
              </a:ext>
            </a:extLst>
          </p:cNvPr>
          <p:cNvSpPr txBox="1"/>
          <p:nvPr/>
        </p:nvSpPr>
        <p:spPr>
          <a:xfrm>
            <a:off x="1093417" y="5190172"/>
            <a:ext cx="3781824" cy="523220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1: Mass-Spring system of the rail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83D8AD-2CD8-733A-D225-C9CEA9BAC45D}"/>
              </a:ext>
            </a:extLst>
          </p:cNvPr>
          <p:cNvCxnSpPr/>
          <p:nvPr/>
        </p:nvCxnSpPr>
        <p:spPr>
          <a:xfrm>
            <a:off x="2379876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Earth Globe - Asia with solid fill">
            <a:extLst>
              <a:ext uri="{FF2B5EF4-FFF2-40B4-BE49-F238E27FC236}">
                <a16:creationId xmlns:a16="http://schemas.microsoft.com/office/drawing/2014/main" id="{F196256B-FF16-6C3B-B076-CF6AFF407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476506" y="2764307"/>
            <a:ext cx="1104080" cy="1104080"/>
          </a:xfrm>
          <a:prstGeom prst="flowChartConnector">
            <a:avLst/>
          </a:prstGeom>
          <a:noFill/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8E3DB98-6455-B4AA-0FD0-E7E6E301CCA1}"/>
              </a:ext>
            </a:extLst>
          </p:cNvPr>
          <p:cNvSpPr/>
          <p:nvPr/>
        </p:nvSpPr>
        <p:spPr>
          <a:xfrm>
            <a:off x="12669883" y="1568017"/>
            <a:ext cx="2579914" cy="3842657"/>
          </a:xfrm>
          <a:prstGeom prst="roundRect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8C4389-F5E2-05EE-540D-8A6DDCAB6696}"/>
              </a:ext>
            </a:extLst>
          </p:cNvPr>
          <p:cNvCxnSpPr/>
          <p:nvPr/>
        </p:nvCxnSpPr>
        <p:spPr>
          <a:xfrm>
            <a:off x="5447329" y="5410674"/>
            <a:ext cx="1297339" cy="0"/>
          </a:xfrm>
          <a:prstGeom prst="line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3C476E0-D56C-5104-F70A-2FE63E4CABD0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425552FF-8EEA-1840-D9A5-9019488FD18A}"/>
              </a:ext>
            </a:extLst>
          </p:cNvPr>
          <p:cNvSpPr/>
          <p:nvPr/>
        </p:nvSpPr>
        <p:spPr>
          <a:xfrm>
            <a:off x="6486668" y="1486297"/>
            <a:ext cx="4804020" cy="4541899"/>
          </a:xfrm>
          <a:prstGeom prst="roundRect">
            <a:avLst/>
          </a:prstGeom>
          <a:solidFill>
            <a:srgbClr val="BA1F3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 descr="A diagram of a device&#10;&#10;AI-generated content may be incorrect.">
            <a:extLst>
              <a:ext uri="{FF2B5EF4-FFF2-40B4-BE49-F238E27FC236}">
                <a16:creationId xmlns:a16="http://schemas.microsoft.com/office/drawing/2014/main" id="{BE16C58A-84CC-43C8-30B1-84B5E20E52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5291" r="14187" b="10285"/>
          <a:stretch/>
        </p:blipFill>
        <p:spPr>
          <a:xfrm>
            <a:off x="7287493" y="2068354"/>
            <a:ext cx="3222012" cy="3010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A87EF64-3128-9DBA-7112-5D215F829FDC}"/>
              </a:ext>
            </a:extLst>
          </p:cNvPr>
          <p:cNvSpPr txBox="1"/>
          <p:nvPr/>
        </p:nvSpPr>
        <p:spPr>
          <a:xfrm>
            <a:off x="7201379" y="5190172"/>
            <a:ext cx="3632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2: Mass-Spring system of the electromagnet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CAA5E7-485F-4099-BB78-3D3DB73ABCCF}"/>
              </a:ext>
            </a:extLst>
          </p:cNvPr>
          <p:cNvCxnSpPr/>
          <p:nvPr/>
        </p:nvCxnSpPr>
        <p:spPr>
          <a:xfrm>
            <a:off x="8369007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905EF51-4051-5E3E-C769-D301A2DF22A2}"/>
              </a:ext>
            </a:extLst>
          </p:cNvPr>
          <p:cNvSpPr/>
          <p:nvPr/>
        </p:nvSpPr>
        <p:spPr>
          <a:xfrm>
            <a:off x="194570" y="1414286"/>
            <a:ext cx="11126501" cy="46859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>
              <a:solidFill>
                <a:schemeClr val="tx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B8D1E86-075B-C091-7E52-2C2DB13CE31C}"/>
              </a:ext>
            </a:extLst>
          </p:cNvPr>
          <p:cNvGrpSpPr/>
          <p:nvPr/>
        </p:nvGrpSpPr>
        <p:grpSpPr>
          <a:xfrm>
            <a:off x="5928878" y="2608196"/>
            <a:ext cx="5392193" cy="2501687"/>
            <a:chOff x="801857" y="2110144"/>
            <a:chExt cx="5392193" cy="250168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707B078-DA9F-74BA-20A8-640EAB3BDA07}"/>
                </a:ext>
              </a:extLst>
            </p:cNvPr>
            <p:cNvSpPr/>
            <p:nvPr/>
          </p:nvSpPr>
          <p:spPr>
            <a:xfrm>
              <a:off x="1359419" y="2110144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Spring Constant of the rail [N/m]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2C54F09-9815-5007-6DE4-E9F6CC6E08CA}"/>
                </a:ext>
              </a:extLst>
            </p:cNvPr>
            <p:cNvSpPr/>
            <p:nvPr/>
          </p:nvSpPr>
          <p:spPr>
            <a:xfrm>
              <a:off x="801858" y="2110144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K</a:t>
              </a:r>
              <a:r>
                <a:rPr lang="en-US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78F12C6-47B1-ACF2-2C40-7D0EF76B7D55}"/>
                </a:ext>
              </a:extLst>
            </p:cNvPr>
            <p:cNvSpPr/>
            <p:nvPr/>
          </p:nvSpPr>
          <p:spPr>
            <a:xfrm>
              <a:off x="1359419" y="3007046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between the rail and electromagnet [m]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8457B92-7EAF-E4BB-283C-B6208A200187}"/>
                </a:ext>
              </a:extLst>
            </p:cNvPr>
            <p:cNvSpPr/>
            <p:nvPr/>
          </p:nvSpPr>
          <p:spPr>
            <a:xfrm>
              <a:off x="801858" y="3007046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8BA20A6-9C99-3819-2EBB-6D2C5188506C}"/>
                </a:ext>
              </a:extLst>
            </p:cNvPr>
            <p:cNvSpPr/>
            <p:nvPr/>
          </p:nvSpPr>
          <p:spPr>
            <a:xfrm>
              <a:off x="1359419" y="3903948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Mass of the electromagnet [kg]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1B91FD5-7794-C132-6C2D-339A1C985F34}"/>
                </a:ext>
              </a:extLst>
            </p:cNvPr>
            <p:cNvSpPr/>
            <p:nvPr/>
          </p:nvSpPr>
          <p:spPr>
            <a:xfrm>
              <a:off x="801857" y="3903948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m</a:t>
              </a:r>
              <a:r>
                <a:rPr lang="en-US" sz="1500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5" name="Picture 4" descr="A diagram of a rail vibration&#10;&#10;AI-generated content may be incorrect.">
            <a:extLst>
              <a:ext uri="{FF2B5EF4-FFF2-40B4-BE49-F238E27FC236}">
                <a16:creationId xmlns:a16="http://schemas.microsoft.com/office/drawing/2014/main" id="{5D13D280-3541-C796-7FFB-5A99224A71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708" b="12578"/>
          <a:stretch/>
        </p:blipFill>
        <p:spPr>
          <a:xfrm>
            <a:off x="1249345" y="2068354"/>
            <a:ext cx="3558399" cy="2961240"/>
          </a:xfrm>
          <a:prstGeom prst="rect">
            <a:avLst/>
          </a:prstGeom>
        </p:spPr>
      </p:pic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5E4D9463-96DA-2EED-5CC3-21B755ACB356}"/>
              </a:ext>
            </a:extLst>
          </p:cNvPr>
          <p:cNvCxnSpPr>
            <a:cxnSpLocks/>
          </p:cNvCxnSpPr>
          <p:nvPr/>
        </p:nvCxnSpPr>
        <p:spPr>
          <a:xfrm>
            <a:off x="4138147" y="3505098"/>
            <a:ext cx="1608223" cy="266802"/>
          </a:xfrm>
          <a:prstGeom prst="bentConnector3">
            <a:avLst/>
          </a:prstGeom>
          <a:ln w="28575">
            <a:solidFill>
              <a:srgbClr val="1826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E0B0CA8-3FC4-9FAE-1AFD-75F3350362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7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236FE-8CDC-A719-E6F6-31C9AE2B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8E9790-E9A5-D2A6-5308-610DEA962128}"/>
              </a:ext>
            </a:extLst>
          </p:cNvPr>
          <p:cNvSpPr txBox="1"/>
          <p:nvPr/>
        </p:nvSpPr>
        <p:spPr>
          <a:xfrm>
            <a:off x="1018168" y="501803"/>
            <a:ext cx="3387466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Mass Spring Models</a:t>
            </a:r>
          </a:p>
          <a:p>
            <a:r>
              <a:rPr lang="en-US" sz="1600">
                <a:latin typeface="Montserrat"/>
              </a:rPr>
              <a:t>Mechanical System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2362DDF8-50F4-6232-C12F-4C58D6C6E848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5175BFC3-E6F4-4DB5-8CDF-DB9FAF83F0F4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703463-161C-1A4E-31DB-D774CB00BD11}"/>
              </a:ext>
            </a:extLst>
          </p:cNvPr>
          <p:cNvSpPr/>
          <p:nvPr/>
        </p:nvSpPr>
        <p:spPr>
          <a:xfrm>
            <a:off x="643309" y="1568016"/>
            <a:ext cx="4804020" cy="4541899"/>
          </a:xfrm>
          <a:prstGeom prst="roundRect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800458-A440-B9A0-21C8-56DC86B3373E}"/>
              </a:ext>
            </a:extLst>
          </p:cNvPr>
          <p:cNvSpPr txBox="1"/>
          <p:nvPr/>
        </p:nvSpPr>
        <p:spPr>
          <a:xfrm>
            <a:off x="2217274" y="2221158"/>
            <a:ext cx="1622560" cy="338554"/>
          </a:xfrm>
          <a:prstGeom prst="rect">
            <a:avLst/>
          </a:prstGeom>
          <a:solidFill>
            <a:srgbClr val="1826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Montserrat" panose="00000500000000000000" pitchFamily="2" charset="0"/>
              </a:rPr>
              <a:t>Geographical</a:t>
            </a:r>
            <a:endParaRPr lang="en-CA" sz="1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1E9518-5EB1-13FE-EED1-16754BFCE9CE}"/>
              </a:ext>
            </a:extLst>
          </p:cNvPr>
          <p:cNvSpPr txBox="1"/>
          <p:nvPr/>
        </p:nvSpPr>
        <p:spPr>
          <a:xfrm>
            <a:off x="1093417" y="5190172"/>
            <a:ext cx="3781824" cy="523220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1: Mass-Spring system of the rail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F09386-FD5A-1CF7-6B31-4BADD3EC9203}"/>
              </a:ext>
            </a:extLst>
          </p:cNvPr>
          <p:cNvCxnSpPr/>
          <p:nvPr/>
        </p:nvCxnSpPr>
        <p:spPr>
          <a:xfrm>
            <a:off x="2379876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Earth Globe - Asia with solid fill">
            <a:extLst>
              <a:ext uri="{FF2B5EF4-FFF2-40B4-BE49-F238E27FC236}">
                <a16:creationId xmlns:a16="http://schemas.microsoft.com/office/drawing/2014/main" id="{1F7B9AFA-B223-6852-4022-9ABD6C66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476506" y="2764307"/>
            <a:ext cx="1104080" cy="1104080"/>
          </a:xfrm>
          <a:prstGeom prst="flowChartConnector">
            <a:avLst/>
          </a:prstGeom>
          <a:noFill/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4F4F150-C242-928A-E778-F43B9AAA6183}"/>
              </a:ext>
            </a:extLst>
          </p:cNvPr>
          <p:cNvSpPr/>
          <p:nvPr/>
        </p:nvSpPr>
        <p:spPr>
          <a:xfrm>
            <a:off x="12669883" y="1568017"/>
            <a:ext cx="2579914" cy="3842657"/>
          </a:xfrm>
          <a:prstGeom prst="roundRect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A5BBEA0-212E-2FE6-28B1-F27E38F3C853}"/>
              </a:ext>
            </a:extLst>
          </p:cNvPr>
          <p:cNvCxnSpPr/>
          <p:nvPr/>
        </p:nvCxnSpPr>
        <p:spPr>
          <a:xfrm>
            <a:off x="5447329" y="5410674"/>
            <a:ext cx="1297339" cy="0"/>
          </a:xfrm>
          <a:prstGeom prst="line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8D1D173-B6EF-4042-D083-6886758ED38C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27859B31-15D8-40A5-3776-8F067211AD74}"/>
              </a:ext>
            </a:extLst>
          </p:cNvPr>
          <p:cNvSpPr/>
          <p:nvPr/>
        </p:nvSpPr>
        <p:spPr>
          <a:xfrm>
            <a:off x="6486668" y="1486297"/>
            <a:ext cx="4804020" cy="4541899"/>
          </a:xfrm>
          <a:prstGeom prst="roundRect">
            <a:avLst/>
          </a:prstGeom>
          <a:solidFill>
            <a:srgbClr val="BA1F3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 descr="A diagram of a device&#10;&#10;AI-generated content may be incorrect.">
            <a:extLst>
              <a:ext uri="{FF2B5EF4-FFF2-40B4-BE49-F238E27FC236}">
                <a16:creationId xmlns:a16="http://schemas.microsoft.com/office/drawing/2014/main" id="{792557A0-0EE1-FBFF-DE15-261BF814F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5291" r="14187" b="10285"/>
          <a:stretch/>
        </p:blipFill>
        <p:spPr>
          <a:xfrm>
            <a:off x="7287493" y="2068354"/>
            <a:ext cx="3222012" cy="3010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CD08D8-A926-2559-6593-A0BA97AD8E50}"/>
              </a:ext>
            </a:extLst>
          </p:cNvPr>
          <p:cNvSpPr txBox="1"/>
          <p:nvPr/>
        </p:nvSpPr>
        <p:spPr>
          <a:xfrm>
            <a:off x="7201379" y="5190172"/>
            <a:ext cx="3632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2: Mass-Spring system of the electromagnet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036B19D-41D6-FF04-3D7C-09BFB7DE49F8}"/>
              </a:ext>
            </a:extLst>
          </p:cNvPr>
          <p:cNvCxnSpPr/>
          <p:nvPr/>
        </p:nvCxnSpPr>
        <p:spPr>
          <a:xfrm>
            <a:off x="8369007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5262BC4-43A7-2668-D6B5-109568CA0E08}"/>
              </a:ext>
            </a:extLst>
          </p:cNvPr>
          <p:cNvSpPr/>
          <p:nvPr/>
        </p:nvSpPr>
        <p:spPr>
          <a:xfrm>
            <a:off x="194570" y="1414286"/>
            <a:ext cx="11126501" cy="46859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>
              <a:solidFill>
                <a:schemeClr val="tx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7EE18D-9BCF-649A-2ACE-F5B49AC28B08}"/>
              </a:ext>
            </a:extLst>
          </p:cNvPr>
          <p:cNvGrpSpPr/>
          <p:nvPr/>
        </p:nvGrpSpPr>
        <p:grpSpPr>
          <a:xfrm>
            <a:off x="5928878" y="2608196"/>
            <a:ext cx="5392193" cy="2501687"/>
            <a:chOff x="801857" y="2110144"/>
            <a:chExt cx="5392193" cy="250168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521059-E879-D198-D5D7-989C9F58F874}"/>
                </a:ext>
              </a:extLst>
            </p:cNvPr>
            <p:cNvSpPr/>
            <p:nvPr/>
          </p:nvSpPr>
          <p:spPr>
            <a:xfrm>
              <a:off x="1359419" y="2110144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Spring Constant of the rail [N/m]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151E9F5-ACDF-6072-B28B-BC94266BC74B}"/>
                </a:ext>
              </a:extLst>
            </p:cNvPr>
            <p:cNvSpPr/>
            <p:nvPr/>
          </p:nvSpPr>
          <p:spPr>
            <a:xfrm>
              <a:off x="801858" y="2110144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K</a:t>
              </a:r>
              <a:r>
                <a:rPr lang="en-US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2D15C1F-56C5-B19D-E842-A14B75668CEE}"/>
                </a:ext>
              </a:extLst>
            </p:cNvPr>
            <p:cNvSpPr/>
            <p:nvPr/>
          </p:nvSpPr>
          <p:spPr>
            <a:xfrm>
              <a:off x="1359419" y="3007046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between the rail and electromagnet [m]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C72001-3075-3022-BF57-CD865225EAE3}"/>
                </a:ext>
              </a:extLst>
            </p:cNvPr>
            <p:cNvSpPr/>
            <p:nvPr/>
          </p:nvSpPr>
          <p:spPr>
            <a:xfrm>
              <a:off x="801858" y="3007046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4FDC98D-D458-7923-7D96-07A4296ED304}"/>
                </a:ext>
              </a:extLst>
            </p:cNvPr>
            <p:cNvSpPr/>
            <p:nvPr/>
          </p:nvSpPr>
          <p:spPr>
            <a:xfrm>
              <a:off x="1359419" y="3903948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Mass of the electromagnet [kg]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C39C77-1AD0-F365-7C80-846A6E28C90F}"/>
                </a:ext>
              </a:extLst>
            </p:cNvPr>
            <p:cNvSpPr/>
            <p:nvPr/>
          </p:nvSpPr>
          <p:spPr>
            <a:xfrm>
              <a:off x="801857" y="3903948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m</a:t>
              </a:r>
              <a:r>
                <a:rPr lang="en-US" sz="1500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5" name="Picture 4" descr="A diagram of a rail vibration&#10;&#10;AI-generated content may be incorrect.">
            <a:extLst>
              <a:ext uri="{FF2B5EF4-FFF2-40B4-BE49-F238E27FC236}">
                <a16:creationId xmlns:a16="http://schemas.microsoft.com/office/drawing/2014/main" id="{E40542F0-6788-1F85-0705-0F48AC52A6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708" b="12578"/>
          <a:stretch/>
        </p:blipFill>
        <p:spPr>
          <a:xfrm>
            <a:off x="1249345" y="2068354"/>
            <a:ext cx="3558399" cy="2961240"/>
          </a:xfrm>
          <a:prstGeom prst="rect">
            <a:avLst/>
          </a:prstGeom>
        </p:spPr>
      </p:pic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37D7F41-2183-D676-25B4-B4ACE17A80ED}"/>
              </a:ext>
            </a:extLst>
          </p:cNvPr>
          <p:cNvCxnSpPr>
            <a:cxnSpLocks/>
          </p:cNvCxnSpPr>
          <p:nvPr/>
        </p:nvCxnSpPr>
        <p:spPr>
          <a:xfrm>
            <a:off x="3211830" y="4402000"/>
            <a:ext cx="2545991" cy="307160"/>
          </a:xfrm>
          <a:prstGeom prst="bentConnector3">
            <a:avLst/>
          </a:prstGeom>
          <a:ln w="28575">
            <a:solidFill>
              <a:srgbClr val="1826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8EFB6CA-5945-0378-9A9C-570EF782DD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CAE5-6838-BFC7-0D71-7B0BCBD51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254B2-83BA-420C-B226-41C53EF04857}"/>
              </a:ext>
            </a:extLst>
          </p:cNvPr>
          <p:cNvSpPr txBox="1"/>
          <p:nvPr/>
        </p:nvSpPr>
        <p:spPr>
          <a:xfrm>
            <a:off x="1018168" y="501803"/>
            <a:ext cx="3387466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Mass Spring Models</a:t>
            </a:r>
          </a:p>
          <a:p>
            <a:r>
              <a:rPr lang="en-US" sz="1600">
                <a:latin typeface="Montserrat"/>
              </a:rPr>
              <a:t>Mechanical System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8C2D3AAE-7831-0CB1-F213-FE2BA51A20E8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E5156E3F-E246-91F6-6E4E-C59481775DD3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D933246-9BD8-71C9-D2AA-6A322F9B9003}"/>
              </a:ext>
            </a:extLst>
          </p:cNvPr>
          <p:cNvSpPr/>
          <p:nvPr/>
        </p:nvSpPr>
        <p:spPr>
          <a:xfrm>
            <a:off x="643309" y="1568016"/>
            <a:ext cx="4804020" cy="4541899"/>
          </a:xfrm>
          <a:prstGeom prst="roundRect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9A4285-301A-DBBF-AC53-2183158EC2DC}"/>
              </a:ext>
            </a:extLst>
          </p:cNvPr>
          <p:cNvSpPr txBox="1"/>
          <p:nvPr/>
        </p:nvSpPr>
        <p:spPr>
          <a:xfrm>
            <a:off x="2217274" y="2221158"/>
            <a:ext cx="1622560" cy="338554"/>
          </a:xfrm>
          <a:prstGeom prst="rect">
            <a:avLst/>
          </a:prstGeom>
          <a:solidFill>
            <a:srgbClr val="1826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Montserrat" panose="00000500000000000000" pitchFamily="2" charset="0"/>
              </a:rPr>
              <a:t>Geographical</a:t>
            </a:r>
            <a:endParaRPr lang="en-CA" sz="1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280827-D294-B1DD-F438-72793F4FBCA7}"/>
              </a:ext>
            </a:extLst>
          </p:cNvPr>
          <p:cNvSpPr txBox="1"/>
          <p:nvPr/>
        </p:nvSpPr>
        <p:spPr>
          <a:xfrm>
            <a:off x="1093417" y="5190172"/>
            <a:ext cx="3781824" cy="523220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1: Mass-Spring system of the rail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009F2B-16A2-B361-D7D2-2CC936388EE7}"/>
              </a:ext>
            </a:extLst>
          </p:cNvPr>
          <p:cNvCxnSpPr/>
          <p:nvPr/>
        </p:nvCxnSpPr>
        <p:spPr>
          <a:xfrm>
            <a:off x="2379876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Earth Globe - Asia with solid fill">
            <a:extLst>
              <a:ext uri="{FF2B5EF4-FFF2-40B4-BE49-F238E27FC236}">
                <a16:creationId xmlns:a16="http://schemas.microsoft.com/office/drawing/2014/main" id="{977DDB30-CAD6-736A-A07D-D604C5B7E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476506" y="2764307"/>
            <a:ext cx="1104080" cy="1104080"/>
          </a:xfrm>
          <a:prstGeom prst="flowChartConnector">
            <a:avLst/>
          </a:prstGeom>
          <a:noFill/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4D9629-1C50-5FAC-6D78-3AB115FCE6F4}"/>
              </a:ext>
            </a:extLst>
          </p:cNvPr>
          <p:cNvSpPr/>
          <p:nvPr/>
        </p:nvSpPr>
        <p:spPr>
          <a:xfrm>
            <a:off x="12669883" y="1568017"/>
            <a:ext cx="2579914" cy="3842657"/>
          </a:xfrm>
          <a:prstGeom prst="roundRect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65FCE2-5ED3-875B-CFA3-6292898B7135}"/>
              </a:ext>
            </a:extLst>
          </p:cNvPr>
          <p:cNvCxnSpPr/>
          <p:nvPr/>
        </p:nvCxnSpPr>
        <p:spPr>
          <a:xfrm>
            <a:off x="5447329" y="5410674"/>
            <a:ext cx="1297339" cy="0"/>
          </a:xfrm>
          <a:prstGeom prst="line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8D2FF7E-9B21-916E-A2E4-E63C9FDA7AF2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pic>
        <p:nvPicPr>
          <p:cNvPr id="5" name="Picture 4" descr="A diagram of a rail vibration&#10;&#10;AI-generated content may be incorrect.">
            <a:extLst>
              <a:ext uri="{FF2B5EF4-FFF2-40B4-BE49-F238E27FC236}">
                <a16:creationId xmlns:a16="http://schemas.microsoft.com/office/drawing/2014/main" id="{D8FDC548-D4DA-DAF9-7BB3-8370F70C4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708" b="12578"/>
          <a:stretch/>
        </p:blipFill>
        <p:spPr>
          <a:xfrm>
            <a:off x="1249345" y="2068354"/>
            <a:ext cx="3558399" cy="2961240"/>
          </a:xfrm>
          <a:prstGeom prst="rect">
            <a:avLst/>
          </a:prstGeom>
        </p:spPr>
      </p:pic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C0FD6D33-8A6E-46F2-0149-8C79B5A6F2AB}"/>
              </a:ext>
            </a:extLst>
          </p:cNvPr>
          <p:cNvSpPr/>
          <p:nvPr/>
        </p:nvSpPr>
        <p:spPr>
          <a:xfrm>
            <a:off x="6486668" y="1486297"/>
            <a:ext cx="4804020" cy="4541899"/>
          </a:xfrm>
          <a:prstGeom prst="roundRect">
            <a:avLst/>
          </a:prstGeom>
          <a:solidFill>
            <a:srgbClr val="BA1F3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E7DD31-D852-BE5C-52EA-8E78440C6EF4}"/>
              </a:ext>
            </a:extLst>
          </p:cNvPr>
          <p:cNvSpPr txBox="1"/>
          <p:nvPr/>
        </p:nvSpPr>
        <p:spPr>
          <a:xfrm>
            <a:off x="7201379" y="5190172"/>
            <a:ext cx="3632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2: Mass-Spring system of the electromagnet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8B0AF2-7316-5D8B-336D-214D30D38A16}"/>
              </a:ext>
            </a:extLst>
          </p:cNvPr>
          <p:cNvCxnSpPr/>
          <p:nvPr/>
        </p:nvCxnSpPr>
        <p:spPr>
          <a:xfrm>
            <a:off x="8369007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DAD9848-6639-EF22-D7E1-E6A0D3A7A74A}"/>
              </a:ext>
            </a:extLst>
          </p:cNvPr>
          <p:cNvSpPr/>
          <p:nvPr/>
        </p:nvSpPr>
        <p:spPr>
          <a:xfrm>
            <a:off x="283160" y="1447325"/>
            <a:ext cx="11126501" cy="46859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>
              <a:solidFill>
                <a:schemeClr val="tx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B35619-1D7A-163E-1862-FBA67776076F}"/>
              </a:ext>
            </a:extLst>
          </p:cNvPr>
          <p:cNvGrpSpPr/>
          <p:nvPr/>
        </p:nvGrpSpPr>
        <p:grpSpPr>
          <a:xfrm>
            <a:off x="707061" y="2053193"/>
            <a:ext cx="5392193" cy="3398589"/>
            <a:chOff x="801857" y="2110144"/>
            <a:chExt cx="5392193" cy="339858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CFD35BA-8683-2986-D017-02EAC2674485}"/>
                </a:ext>
              </a:extLst>
            </p:cNvPr>
            <p:cNvSpPr/>
            <p:nvPr/>
          </p:nvSpPr>
          <p:spPr>
            <a:xfrm>
              <a:off x="1359419" y="2110144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Spring Constant of the suspension beam [N/m]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A127D4F-2F66-18B1-46CC-7B0126CBCF6C}"/>
                </a:ext>
              </a:extLst>
            </p:cNvPr>
            <p:cNvSpPr/>
            <p:nvPr/>
          </p:nvSpPr>
          <p:spPr>
            <a:xfrm>
              <a:off x="801858" y="2110144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K</a:t>
              </a:r>
              <a:r>
                <a:rPr lang="en-US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B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FAA15DD-0A72-C26F-0396-3F1580AC6D87}"/>
                </a:ext>
              </a:extLst>
            </p:cNvPr>
            <p:cNvSpPr/>
            <p:nvPr/>
          </p:nvSpPr>
          <p:spPr>
            <a:xfrm>
              <a:off x="1359419" y="3007046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between the rail and electromagnet [m]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FF1C6DC-8A04-3558-687B-F9E71796ACC6}"/>
                </a:ext>
              </a:extLst>
            </p:cNvPr>
            <p:cNvSpPr/>
            <p:nvPr/>
          </p:nvSpPr>
          <p:spPr>
            <a:xfrm>
              <a:off x="801858" y="3007046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E076143-CA73-9173-56D3-A4BEA19850DC}"/>
                </a:ext>
              </a:extLst>
            </p:cNvPr>
            <p:cNvSpPr/>
            <p:nvPr/>
          </p:nvSpPr>
          <p:spPr>
            <a:xfrm>
              <a:off x="1359419" y="3903948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from the ground to electromagnet [m]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1BD738-3DDB-EB30-CD3B-D84E462EB2D5}"/>
                </a:ext>
              </a:extLst>
            </p:cNvPr>
            <p:cNvSpPr/>
            <p:nvPr/>
          </p:nvSpPr>
          <p:spPr>
            <a:xfrm>
              <a:off x="801857" y="3903948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sz="1500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E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411C447-DBC4-BD5D-844B-65C97427D4E8}"/>
                </a:ext>
              </a:extLst>
            </p:cNvPr>
            <p:cNvSpPr/>
            <p:nvPr/>
          </p:nvSpPr>
          <p:spPr>
            <a:xfrm>
              <a:off x="1359419" y="4800850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Mass of one electromagnet [kg]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FF1DA0C-BC9D-B8EA-DF1C-8F109024596B}"/>
                </a:ext>
              </a:extLst>
            </p:cNvPr>
            <p:cNvSpPr/>
            <p:nvPr/>
          </p:nvSpPr>
          <p:spPr>
            <a:xfrm>
              <a:off x="801857" y="4800850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m</a:t>
              </a:r>
              <a:r>
                <a:rPr lang="en-US" sz="1500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E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8" name="Picture 7" descr="A diagram of a device&#10;&#10;AI-generated content may be incorrect.">
            <a:extLst>
              <a:ext uri="{FF2B5EF4-FFF2-40B4-BE49-F238E27FC236}">
                <a16:creationId xmlns:a16="http://schemas.microsoft.com/office/drawing/2014/main" id="{1DC02D39-866E-A317-1455-4C2E941D67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5291" r="14187" b="10285"/>
          <a:stretch/>
        </p:blipFill>
        <p:spPr>
          <a:xfrm>
            <a:off x="7287493" y="2068354"/>
            <a:ext cx="3222012" cy="3010328"/>
          </a:xfrm>
          <a:prstGeom prst="rect">
            <a:avLst/>
          </a:prstGeom>
        </p:spPr>
      </p:pic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418B09B-211E-C112-9CAC-138A2CA19E5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6099254" y="2407135"/>
            <a:ext cx="2015167" cy="367477"/>
          </a:xfrm>
          <a:prstGeom prst="bentConnector3">
            <a:avLst/>
          </a:prstGeom>
          <a:ln w="28575">
            <a:solidFill>
              <a:srgbClr val="1826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4387148-CA19-4E1B-5887-BFA5A458AC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9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53877-E747-54E7-6A27-FF23A86B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3C17A-1EA2-F76A-D0E0-0C31551A4881}"/>
              </a:ext>
            </a:extLst>
          </p:cNvPr>
          <p:cNvSpPr txBox="1"/>
          <p:nvPr/>
        </p:nvSpPr>
        <p:spPr>
          <a:xfrm>
            <a:off x="1018168" y="501803"/>
            <a:ext cx="3387466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Mass Spring Models</a:t>
            </a:r>
          </a:p>
          <a:p>
            <a:r>
              <a:rPr lang="en-US" sz="1600">
                <a:latin typeface="Montserrat"/>
              </a:rPr>
              <a:t>Mechanical System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7E205076-60C8-2D9F-E153-DE580A48CA5E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505C18B9-CD36-EFA1-96D1-FA5708E3A322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7C8A6E-EA74-69D9-2212-D2E455FCDD00}"/>
              </a:ext>
            </a:extLst>
          </p:cNvPr>
          <p:cNvSpPr/>
          <p:nvPr/>
        </p:nvSpPr>
        <p:spPr>
          <a:xfrm>
            <a:off x="643309" y="1568016"/>
            <a:ext cx="4804020" cy="4541899"/>
          </a:xfrm>
          <a:prstGeom prst="roundRect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C035E9-6F22-D971-4AFF-506A56DF6A4B}"/>
              </a:ext>
            </a:extLst>
          </p:cNvPr>
          <p:cNvSpPr txBox="1"/>
          <p:nvPr/>
        </p:nvSpPr>
        <p:spPr>
          <a:xfrm>
            <a:off x="2217274" y="2221158"/>
            <a:ext cx="1622560" cy="338554"/>
          </a:xfrm>
          <a:prstGeom prst="rect">
            <a:avLst/>
          </a:prstGeom>
          <a:solidFill>
            <a:srgbClr val="1826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Montserrat" panose="00000500000000000000" pitchFamily="2" charset="0"/>
              </a:rPr>
              <a:t>Geographical</a:t>
            </a:r>
            <a:endParaRPr lang="en-CA" sz="1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6DDB73-E262-C7F2-DCD1-8316235BE2EE}"/>
              </a:ext>
            </a:extLst>
          </p:cNvPr>
          <p:cNvSpPr txBox="1"/>
          <p:nvPr/>
        </p:nvSpPr>
        <p:spPr>
          <a:xfrm>
            <a:off x="1093417" y="5190172"/>
            <a:ext cx="3781824" cy="523220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1: Mass-Spring system of the rail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8E213C-9C3D-BE5E-2CF6-81D2AE786FB7}"/>
              </a:ext>
            </a:extLst>
          </p:cNvPr>
          <p:cNvCxnSpPr/>
          <p:nvPr/>
        </p:nvCxnSpPr>
        <p:spPr>
          <a:xfrm>
            <a:off x="2379876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Earth Globe - Asia with solid fill">
            <a:extLst>
              <a:ext uri="{FF2B5EF4-FFF2-40B4-BE49-F238E27FC236}">
                <a16:creationId xmlns:a16="http://schemas.microsoft.com/office/drawing/2014/main" id="{E9E633D1-1F3D-2BFE-3383-3A8A74B61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476506" y="2764307"/>
            <a:ext cx="1104080" cy="1104080"/>
          </a:xfrm>
          <a:prstGeom prst="flowChartConnector">
            <a:avLst/>
          </a:prstGeom>
          <a:noFill/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F93FC4A-0812-601D-D5C0-DE5A119976B1}"/>
              </a:ext>
            </a:extLst>
          </p:cNvPr>
          <p:cNvSpPr/>
          <p:nvPr/>
        </p:nvSpPr>
        <p:spPr>
          <a:xfrm>
            <a:off x="12669883" y="1568017"/>
            <a:ext cx="2579914" cy="3842657"/>
          </a:xfrm>
          <a:prstGeom prst="roundRect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30415C-8329-837B-B41A-8C7848C0FB74}"/>
              </a:ext>
            </a:extLst>
          </p:cNvPr>
          <p:cNvCxnSpPr/>
          <p:nvPr/>
        </p:nvCxnSpPr>
        <p:spPr>
          <a:xfrm>
            <a:off x="5447329" y="5410674"/>
            <a:ext cx="1297339" cy="0"/>
          </a:xfrm>
          <a:prstGeom prst="line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EBD2D07-0D1C-3C13-5271-F2086C9F4638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pic>
        <p:nvPicPr>
          <p:cNvPr id="5" name="Picture 4" descr="A diagram of a rail vibration&#10;&#10;AI-generated content may be incorrect.">
            <a:extLst>
              <a:ext uri="{FF2B5EF4-FFF2-40B4-BE49-F238E27FC236}">
                <a16:creationId xmlns:a16="http://schemas.microsoft.com/office/drawing/2014/main" id="{1AE12A49-ABED-0938-EC79-6B44EE44A0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708" b="12578"/>
          <a:stretch/>
        </p:blipFill>
        <p:spPr>
          <a:xfrm>
            <a:off x="1249345" y="2068354"/>
            <a:ext cx="3558399" cy="2961240"/>
          </a:xfrm>
          <a:prstGeom prst="rect">
            <a:avLst/>
          </a:prstGeom>
        </p:spPr>
      </p:pic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229A117A-BEA5-EA08-8C05-22A34D2B33CE}"/>
              </a:ext>
            </a:extLst>
          </p:cNvPr>
          <p:cNvSpPr/>
          <p:nvPr/>
        </p:nvSpPr>
        <p:spPr>
          <a:xfrm>
            <a:off x="6486668" y="1486297"/>
            <a:ext cx="4804020" cy="4541899"/>
          </a:xfrm>
          <a:prstGeom prst="roundRect">
            <a:avLst/>
          </a:prstGeom>
          <a:solidFill>
            <a:srgbClr val="BA1F3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8C8FE4-A2B9-6F01-95C3-9AEE2B1BCBBD}"/>
              </a:ext>
            </a:extLst>
          </p:cNvPr>
          <p:cNvSpPr txBox="1"/>
          <p:nvPr/>
        </p:nvSpPr>
        <p:spPr>
          <a:xfrm>
            <a:off x="7201379" y="5190172"/>
            <a:ext cx="3632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2: Mass-Spring system of the electromagnet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B969A4D-9993-F5EC-474E-4AEF4B662B68}"/>
              </a:ext>
            </a:extLst>
          </p:cNvPr>
          <p:cNvCxnSpPr/>
          <p:nvPr/>
        </p:nvCxnSpPr>
        <p:spPr>
          <a:xfrm>
            <a:off x="8369007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1A0A86F-BE14-D2B5-6889-46439363F7AA}"/>
              </a:ext>
            </a:extLst>
          </p:cNvPr>
          <p:cNvSpPr/>
          <p:nvPr/>
        </p:nvSpPr>
        <p:spPr>
          <a:xfrm>
            <a:off x="283160" y="1447325"/>
            <a:ext cx="11126501" cy="46859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>
              <a:solidFill>
                <a:schemeClr val="tx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DDA109-87B5-D37C-C872-21C339125747}"/>
              </a:ext>
            </a:extLst>
          </p:cNvPr>
          <p:cNvGrpSpPr/>
          <p:nvPr/>
        </p:nvGrpSpPr>
        <p:grpSpPr>
          <a:xfrm>
            <a:off x="707061" y="2053193"/>
            <a:ext cx="5392193" cy="3398589"/>
            <a:chOff x="801857" y="2110144"/>
            <a:chExt cx="5392193" cy="339858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F2CFB8A-63E3-5C77-7497-4BAEF6EB5ECA}"/>
                </a:ext>
              </a:extLst>
            </p:cNvPr>
            <p:cNvSpPr/>
            <p:nvPr/>
          </p:nvSpPr>
          <p:spPr>
            <a:xfrm>
              <a:off x="1359419" y="2110144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Spring Constant of the suspension beam [N/m]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C2EB282-26A4-DB9F-B495-998DAF9AF6DA}"/>
                </a:ext>
              </a:extLst>
            </p:cNvPr>
            <p:cNvSpPr/>
            <p:nvPr/>
          </p:nvSpPr>
          <p:spPr>
            <a:xfrm>
              <a:off x="801858" y="2110144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K</a:t>
              </a:r>
              <a:r>
                <a:rPr lang="en-US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B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F9F21A1-7A12-06DF-85D1-3144354690D4}"/>
                </a:ext>
              </a:extLst>
            </p:cNvPr>
            <p:cNvSpPr/>
            <p:nvPr/>
          </p:nvSpPr>
          <p:spPr>
            <a:xfrm>
              <a:off x="1359419" y="3007046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between the rail and electromagnet [m]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6B3BBA3-5C33-40B4-C251-7319B3E89A4C}"/>
                </a:ext>
              </a:extLst>
            </p:cNvPr>
            <p:cNvSpPr/>
            <p:nvPr/>
          </p:nvSpPr>
          <p:spPr>
            <a:xfrm>
              <a:off x="801858" y="3007046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D82D26F-FD9A-0CA9-A984-DEC042D090A7}"/>
                </a:ext>
              </a:extLst>
            </p:cNvPr>
            <p:cNvSpPr/>
            <p:nvPr/>
          </p:nvSpPr>
          <p:spPr>
            <a:xfrm>
              <a:off x="1359419" y="3903948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from the ground to electromagnet [m]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308A1D9-0C68-7011-905A-5FABF81E983D}"/>
                </a:ext>
              </a:extLst>
            </p:cNvPr>
            <p:cNvSpPr/>
            <p:nvPr/>
          </p:nvSpPr>
          <p:spPr>
            <a:xfrm>
              <a:off x="801857" y="3903948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sz="1500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E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A91311E-190B-52B7-087C-16BD7BB33896}"/>
                </a:ext>
              </a:extLst>
            </p:cNvPr>
            <p:cNvSpPr/>
            <p:nvPr/>
          </p:nvSpPr>
          <p:spPr>
            <a:xfrm>
              <a:off x="1359419" y="4800850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Mass of one electromagnet [kg]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969770-8D40-5198-F249-088544B702CC}"/>
                </a:ext>
              </a:extLst>
            </p:cNvPr>
            <p:cNvSpPr/>
            <p:nvPr/>
          </p:nvSpPr>
          <p:spPr>
            <a:xfrm>
              <a:off x="801857" y="4800850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m</a:t>
              </a:r>
              <a:r>
                <a:rPr lang="en-US" sz="1500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E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8" name="Picture 7" descr="A diagram of a device&#10;&#10;AI-generated content may be incorrect.">
            <a:extLst>
              <a:ext uri="{FF2B5EF4-FFF2-40B4-BE49-F238E27FC236}">
                <a16:creationId xmlns:a16="http://schemas.microsoft.com/office/drawing/2014/main" id="{0CF2EBF1-033A-F8F8-44F3-54E0FB320A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5291" r="14187" b="10285"/>
          <a:stretch/>
        </p:blipFill>
        <p:spPr>
          <a:xfrm>
            <a:off x="7287493" y="2068354"/>
            <a:ext cx="3222012" cy="3010328"/>
          </a:xfrm>
          <a:prstGeom prst="rect">
            <a:avLst/>
          </a:prstGeom>
        </p:spPr>
      </p:pic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5201067-A133-C998-4EEA-141751CC64F9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6099254" y="3304037"/>
            <a:ext cx="3028558" cy="678166"/>
          </a:xfrm>
          <a:prstGeom prst="bentConnector3">
            <a:avLst/>
          </a:prstGeom>
          <a:ln w="28575">
            <a:solidFill>
              <a:srgbClr val="1826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453D0CB-DED0-8D7B-FD24-B627D7705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5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E130-8BE4-6236-09F0-7E6CB83B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81146-CA05-B3E9-8DE9-6AF2DD0FDAF8}"/>
              </a:ext>
            </a:extLst>
          </p:cNvPr>
          <p:cNvSpPr txBox="1"/>
          <p:nvPr/>
        </p:nvSpPr>
        <p:spPr>
          <a:xfrm>
            <a:off x="1018168" y="501803"/>
            <a:ext cx="3387466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Mass Spring Models</a:t>
            </a:r>
          </a:p>
          <a:p>
            <a:r>
              <a:rPr lang="en-US" sz="1600">
                <a:latin typeface="Montserrat"/>
              </a:rPr>
              <a:t>Mechanical System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F74ECD30-CCB3-1C98-41CF-5F9C482E2700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0742A47-4996-7C81-68E2-4EC4AAFF68A3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E4CF3B-DB7F-6DB8-4642-667E24263FB7}"/>
              </a:ext>
            </a:extLst>
          </p:cNvPr>
          <p:cNvSpPr/>
          <p:nvPr/>
        </p:nvSpPr>
        <p:spPr>
          <a:xfrm>
            <a:off x="643309" y="1568016"/>
            <a:ext cx="4804020" cy="4541899"/>
          </a:xfrm>
          <a:prstGeom prst="roundRect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30B6E-FA77-3FCE-EC69-73919436BC54}"/>
              </a:ext>
            </a:extLst>
          </p:cNvPr>
          <p:cNvSpPr txBox="1"/>
          <p:nvPr/>
        </p:nvSpPr>
        <p:spPr>
          <a:xfrm>
            <a:off x="2217274" y="2221158"/>
            <a:ext cx="1622560" cy="338554"/>
          </a:xfrm>
          <a:prstGeom prst="rect">
            <a:avLst/>
          </a:prstGeom>
          <a:solidFill>
            <a:srgbClr val="1826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Montserrat" panose="00000500000000000000" pitchFamily="2" charset="0"/>
              </a:rPr>
              <a:t>Geographical</a:t>
            </a:r>
            <a:endParaRPr lang="en-CA" sz="1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37E492-C62E-1399-B76B-64F2A588121D}"/>
              </a:ext>
            </a:extLst>
          </p:cNvPr>
          <p:cNvSpPr txBox="1"/>
          <p:nvPr/>
        </p:nvSpPr>
        <p:spPr>
          <a:xfrm>
            <a:off x="1093417" y="5190172"/>
            <a:ext cx="3781824" cy="523220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1: Mass-Spring system of the rail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68B91B-7A81-2AEE-0834-C18F356C0BA6}"/>
              </a:ext>
            </a:extLst>
          </p:cNvPr>
          <p:cNvCxnSpPr/>
          <p:nvPr/>
        </p:nvCxnSpPr>
        <p:spPr>
          <a:xfrm>
            <a:off x="2379876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Earth Globe - Asia with solid fill">
            <a:extLst>
              <a:ext uri="{FF2B5EF4-FFF2-40B4-BE49-F238E27FC236}">
                <a16:creationId xmlns:a16="http://schemas.microsoft.com/office/drawing/2014/main" id="{8F38EA04-723E-75E9-435A-FE84B0394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476506" y="2764307"/>
            <a:ext cx="1104080" cy="1104080"/>
          </a:xfrm>
          <a:prstGeom prst="flowChartConnector">
            <a:avLst/>
          </a:prstGeom>
          <a:noFill/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B60D74-BE4C-2FF1-B117-CC23F8D8161B}"/>
              </a:ext>
            </a:extLst>
          </p:cNvPr>
          <p:cNvSpPr/>
          <p:nvPr/>
        </p:nvSpPr>
        <p:spPr>
          <a:xfrm>
            <a:off x="12669883" y="1568017"/>
            <a:ext cx="2579914" cy="3842657"/>
          </a:xfrm>
          <a:prstGeom prst="roundRect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05564F-AC0B-BEEC-9C5A-AB13B9C1555E}"/>
              </a:ext>
            </a:extLst>
          </p:cNvPr>
          <p:cNvCxnSpPr/>
          <p:nvPr/>
        </p:nvCxnSpPr>
        <p:spPr>
          <a:xfrm>
            <a:off x="5447329" y="5410674"/>
            <a:ext cx="1297339" cy="0"/>
          </a:xfrm>
          <a:prstGeom prst="line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B8E63B3-ACD8-B881-0C2E-A2579966C9A5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pic>
        <p:nvPicPr>
          <p:cNvPr id="5" name="Picture 4" descr="A diagram of a rail vibration&#10;&#10;AI-generated content may be incorrect.">
            <a:extLst>
              <a:ext uri="{FF2B5EF4-FFF2-40B4-BE49-F238E27FC236}">
                <a16:creationId xmlns:a16="http://schemas.microsoft.com/office/drawing/2014/main" id="{669F5C44-AC5C-42F7-DA71-AB9DFD697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708" b="12578"/>
          <a:stretch/>
        </p:blipFill>
        <p:spPr>
          <a:xfrm>
            <a:off x="1249345" y="2068354"/>
            <a:ext cx="3558399" cy="2961240"/>
          </a:xfrm>
          <a:prstGeom prst="rect">
            <a:avLst/>
          </a:prstGeom>
        </p:spPr>
      </p:pic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07694DC7-5514-6F2A-C979-6177D1A87AA3}"/>
              </a:ext>
            </a:extLst>
          </p:cNvPr>
          <p:cNvSpPr/>
          <p:nvPr/>
        </p:nvSpPr>
        <p:spPr>
          <a:xfrm>
            <a:off x="6486668" y="1486297"/>
            <a:ext cx="4804020" cy="4541899"/>
          </a:xfrm>
          <a:prstGeom prst="roundRect">
            <a:avLst/>
          </a:prstGeom>
          <a:solidFill>
            <a:srgbClr val="BA1F3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FBF61B-864B-72C1-F44A-17386173B4D9}"/>
              </a:ext>
            </a:extLst>
          </p:cNvPr>
          <p:cNvSpPr txBox="1"/>
          <p:nvPr/>
        </p:nvSpPr>
        <p:spPr>
          <a:xfrm>
            <a:off x="7201379" y="5190172"/>
            <a:ext cx="3632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2: Mass-Spring system of the electromagnet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D99D7C-039B-93E7-111E-F54277FE8D8F}"/>
              </a:ext>
            </a:extLst>
          </p:cNvPr>
          <p:cNvCxnSpPr/>
          <p:nvPr/>
        </p:nvCxnSpPr>
        <p:spPr>
          <a:xfrm>
            <a:off x="8369007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56AC800-CA6C-5DA9-B1D9-6E81435193CD}"/>
              </a:ext>
            </a:extLst>
          </p:cNvPr>
          <p:cNvSpPr/>
          <p:nvPr/>
        </p:nvSpPr>
        <p:spPr>
          <a:xfrm>
            <a:off x="283160" y="1447325"/>
            <a:ext cx="11126501" cy="46859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>
              <a:solidFill>
                <a:schemeClr val="tx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288630-206A-9B9D-36DE-366C7EF24302}"/>
              </a:ext>
            </a:extLst>
          </p:cNvPr>
          <p:cNvGrpSpPr/>
          <p:nvPr/>
        </p:nvGrpSpPr>
        <p:grpSpPr>
          <a:xfrm>
            <a:off x="707061" y="2053193"/>
            <a:ext cx="5392193" cy="3398589"/>
            <a:chOff x="801857" y="2110144"/>
            <a:chExt cx="5392193" cy="339858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6B80F74-36FF-8AFE-D76F-D4A6BCBA36EC}"/>
                </a:ext>
              </a:extLst>
            </p:cNvPr>
            <p:cNvSpPr/>
            <p:nvPr/>
          </p:nvSpPr>
          <p:spPr>
            <a:xfrm>
              <a:off x="1359419" y="2110144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Spring Constant of the suspension beam [N/m]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61B368-45A1-B286-33DD-AB5D88377FB1}"/>
                </a:ext>
              </a:extLst>
            </p:cNvPr>
            <p:cNvSpPr/>
            <p:nvPr/>
          </p:nvSpPr>
          <p:spPr>
            <a:xfrm>
              <a:off x="801858" y="2110144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K</a:t>
              </a:r>
              <a:r>
                <a:rPr lang="en-US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B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CA0210A-BD39-A7C7-9A49-BFFAA5FE283D}"/>
                </a:ext>
              </a:extLst>
            </p:cNvPr>
            <p:cNvSpPr/>
            <p:nvPr/>
          </p:nvSpPr>
          <p:spPr>
            <a:xfrm>
              <a:off x="1359419" y="3007046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between the rail and electromagnet [m]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48CBAE3-0D91-0524-9CFE-9B4A51C8AC21}"/>
                </a:ext>
              </a:extLst>
            </p:cNvPr>
            <p:cNvSpPr/>
            <p:nvPr/>
          </p:nvSpPr>
          <p:spPr>
            <a:xfrm>
              <a:off x="801858" y="3007046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BD92A77-13C9-28F3-BE8C-8EEEABD718E3}"/>
                </a:ext>
              </a:extLst>
            </p:cNvPr>
            <p:cNvSpPr/>
            <p:nvPr/>
          </p:nvSpPr>
          <p:spPr>
            <a:xfrm>
              <a:off x="1359419" y="3903948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from the ground to electromagnet [m]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725A675-CD78-62E9-2CA0-941A92CA4330}"/>
                </a:ext>
              </a:extLst>
            </p:cNvPr>
            <p:cNvSpPr/>
            <p:nvPr/>
          </p:nvSpPr>
          <p:spPr>
            <a:xfrm>
              <a:off x="801857" y="3903948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sz="1500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E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4B556F9-89AF-1F3B-A5AC-A44DC145707A}"/>
                </a:ext>
              </a:extLst>
            </p:cNvPr>
            <p:cNvSpPr/>
            <p:nvPr/>
          </p:nvSpPr>
          <p:spPr>
            <a:xfrm>
              <a:off x="1359419" y="4800850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Mass of one electromagnet [kg]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C3B65DE-ABCF-6E64-ED3A-35D49BA60708}"/>
                </a:ext>
              </a:extLst>
            </p:cNvPr>
            <p:cNvSpPr/>
            <p:nvPr/>
          </p:nvSpPr>
          <p:spPr>
            <a:xfrm>
              <a:off x="801857" y="4800850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m</a:t>
              </a:r>
              <a:r>
                <a:rPr lang="en-US" sz="1500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E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8" name="Picture 7" descr="A diagram of a device&#10;&#10;AI-generated content may be incorrect.">
            <a:extLst>
              <a:ext uri="{FF2B5EF4-FFF2-40B4-BE49-F238E27FC236}">
                <a16:creationId xmlns:a16="http://schemas.microsoft.com/office/drawing/2014/main" id="{8E0EDD2E-3C11-81E6-932A-E77E921168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5291" r="14187" b="10285"/>
          <a:stretch/>
        </p:blipFill>
        <p:spPr>
          <a:xfrm>
            <a:off x="7287493" y="2068354"/>
            <a:ext cx="3222012" cy="3010328"/>
          </a:xfrm>
          <a:prstGeom prst="rect">
            <a:avLst/>
          </a:prstGeom>
        </p:spPr>
      </p:pic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495F98E8-7BD3-F98B-ADCB-00956E407DAA}"/>
              </a:ext>
            </a:extLst>
          </p:cNvPr>
          <p:cNvCxnSpPr>
            <a:cxnSpLocks/>
          </p:cNvCxnSpPr>
          <p:nvPr/>
        </p:nvCxnSpPr>
        <p:spPr>
          <a:xfrm flipV="1">
            <a:off x="6096000" y="2761076"/>
            <a:ext cx="2967990" cy="1433734"/>
          </a:xfrm>
          <a:prstGeom prst="bentConnector3">
            <a:avLst/>
          </a:prstGeom>
          <a:ln w="28575">
            <a:solidFill>
              <a:srgbClr val="1826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97B077F-2759-69F5-C3E5-E940DE4881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1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1317-EE48-2FD6-5C5E-58F0D9CDD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81C27A-4163-C9EA-CC24-D42D016E17E5}"/>
              </a:ext>
            </a:extLst>
          </p:cNvPr>
          <p:cNvSpPr txBox="1"/>
          <p:nvPr/>
        </p:nvSpPr>
        <p:spPr>
          <a:xfrm>
            <a:off x="1018168" y="501803"/>
            <a:ext cx="3387466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Mass Spring Models</a:t>
            </a:r>
          </a:p>
          <a:p>
            <a:r>
              <a:rPr lang="en-US" sz="1600">
                <a:latin typeface="Montserrat"/>
              </a:rPr>
              <a:t>Mechanical System</a:t>
            </a:r>
            <a:endParaRPr lang="en-CA" sz="1600" b="1">
              <a:latin typeface="Montserrat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4DA91871-45C5-8BBC-92FF-4BA57F8E269A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DC0B060-D390-2027-D3A7-6408A000A37C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6E762FC-DE83-6283-3889-D95740341BDA}"/>
              </a:ext>
            </a:extLst>
          </p:cNvPr>
          <p:cNvSpPr/>
          <p:nvPr/>
        </p:nvSpPr>
        <p:spPr>
          <a:xfrm>
            <a:off x="643309" y="1568016"/>
            <a:ext cx="4804020" cy="4541899"/>
          </a:xfrm>
          <a:prstGeom prst="roundRect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A8CED0-420A-D36E-B9F5-234C0CE2041D}"/>
              </a:ext>
            </a:extLst>
          </p:cNvPr>
          <p:cNvSpPr txBox="1"/>
          <p:nvPr/>
        </p:nvSpPr>
        <p:spPr>
          <a:xfrm>
            <a:off x="2217274" y="2221158"/>
            <a:ext cx="1622560" cy="338554"/>
          </a:xfrm>
          <a:prstGeom prst="rect">
            <a:avLst/>
          </a:prstGeom>
          <a:solidFill>
            <a:srgbClr val="1826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Montserrat" panose="00000500000000000000" pitchFamily="2" charset="0"/>
              </a:rPr>
              <a:t>Geographical</a:t>
            </a:r>
            <a:endParaRPr lang="en-CA" sz="1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711EF2-AD5B-BE29-D22E-630C435D1339}"/>
              </a:ext>
            </a:extLst>
          </p:cNvPr>
          <p:cNvSpPr txBox="1"/>
          <p:nvPr/>
        </p:nvSpPr>
        <p:spPr>
          <a:xfrm>
            <a:off x="1093417" y="5190172"/>
            <a:ext cx="3781824" cy="523220"/>
          </a:xfrm>
          <a:prstGeom prst="rect">
            <a:avLst/>
          </a:prstGeom>
          <a:solidFill>
            <a:srgbClr val="1826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1: Mass-Spring system of the rail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43210EB-6B50-9E68-5DDE-9824A97ED47F}"/>
              </a:ext>
            </a:extLst>
          </p:cNvPr>
          <p:cNvCxnSpPr/>
          <p:nvPr/>
        </p:nvCxnSpPr>
        <p:spPr>
          <a:xfrm>
            <a:off x="2379876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Earth Globe - Asia with solid fill">
            <a:extLst>
              <a:ext uri="{FF2B5EF4-FFF2-40B4-BE49-F238E27FC236}">
                <a16:creationId xmlns:a16="http://schemas.microsoft.com/office/drawing/2014/main" id="{33CF52FD-FB48-7F2A-B80A-93AA20FDC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476506" y="2764307"/>
            <a:ext cx="1104080" cy="1104080"/>
          </a:xfrm>
          <a:prstGeom prst="flowChartConnector">
            <a:avLst/>
          </a:prstGeom>
          <a:noFill/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D4C484-8DA1-5F1B-4B37-AEE0176AC2EF}"/>
              </a:ext>
            </a:extLst>
          </p:cNvPr>
          <p:cNvSpPr/>
          <p:nvPr/>
        </p:nvSpPr>
        <p:spPr>
          <a:xfrm>
            <a:off x="12669883" y="1568017"/>
            <a:ext cx="2579914" cy="3842657"/>
          </a:xfrm>
          <a:prstGeom prst="roundRect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AECC74-A346-113C-F4DD-095971ABAD75}"/>
              </a:ext>
            </a:extLst>
          </p:cNvPr>
          <p:cNvCxnSpPr/>
          <p:nvPr/>
        </p:nvCxnSpPr>
        <p:spPr>
          <a:xfrm>
            <a:off x="5447329" y="5410674"/>
            <a:ext cx="1297339" cy="0"/>
          </a:xfrm>
          <a:prstGeom prst="line">
            <a:avLst/>
          </a:prstGeom>
          <a:solidFill>
            <a:srgbClr val="FABD12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D38440A-AFFF-9D4A-55DB-010403664A4E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pic>
        <p:nvPicPr>
          <p:cNvPr id="5" name="Picture 4" descr="A diagram of a rail vibration&#10;&#10;AI-generated content may be incorrect.">
            <a:extLst>
              <a:ext uri="{FF2B5EF4-FFF2-40B4-BE49-F238E27FC236}">
                <a16:creationId xmlns:a16="http://schemas.microsoft.com/office/drawing/2014/main" id="{0CD34BA2-5703-57AE-7B1E-9D2932929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708" b="12578"/>
          <a:stretch/>
        </p:blipFill>
        <p:spPr>
          <a:xfrm>
            <a:off x="1249345" y="2068354"/>
            <a:ext cx="3558399" cy="2961240"/>
          </a:xfrm>
          <a:prstGeom prst="rect">
            <a:avLst/>
          </a:prstGeom>
        </p:spPr>
      </p:pic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4E3937FF-C32A-DAF7-3DF0-83B059B3B6F9}"/>
              </a:ext>
            </a:extLst>
          </p:cNvPr>
          <p:cNvSpPr/>
          <p:nvPr/>
        </p:nvSpPr>
        <p:spPr>
          <a:xfrm>
            <a:off x="6486668" y="1486297"/>
            <a:ext cx="4804020" cy="4541899"/>
          </a:xfrm>
          <a:prstGeom prst="roundRect">
            <a:avLst/>
          </a:prstGeom>
          <a:solidFill>
            <a:srgbClr val="BA1F3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36A1AC-E434-D64E-1023-BA9DF0943119}"/>
              </a:ext>
            </a:extLst>
          </p:cNvPr>
          <p:cNvSpPr txBox="1"/>
          <p:nvPr/>
        </p:nvSpPr>
        <p:spPr>
          <a:xfrm>
            <a:off x="7201379" y="5190172"/>
            <a:ext cx="3632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Montserrat" panose="00000500000000000000" pitchFamily="2" charset="0"/>
              </a:rPr>
              <a:t>Figure 2: Mass-Spring system of the electromagnet vibration.</a:t>
            </a:r>
            <a:endParaRPr lang="en-CA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51A347-3EA5-3057-D4A0-9E3A9608743B}"/>
              </a:ext>
            </a:extLst>
          </p:cNvPr>
          <p:cNvCxnSpPr/>
          <p:nvPr/>
        </p:nvCxnSpPr>
        <p:spPr>
          <a:xfrm>
            <a:off x="8369007" y="5873970"/>
            <a:ext cx="1297339" cy="0"/>
          </a:xfrm>
          <a:prstGeom prst="line">
            <a:avLst/>
          </a:prstGeom>
          <a:solidFill>
            <a:srgbClr val="182650"/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E5905AA-D198-805A-9863-82A6E999C1DF}"/>
              </a:ext>
            </a:extLst>
          </p:cNvPr>
          <p:cNvSpPr/>
          <p:nvPr/>
        </p:nvSpPr>
        <p:spPr>
          <a:xfrm>
            <a:off x="283160" y="1447325"/>
            <a:ext cx="11126501" cy="46859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>
              <a:solidFill>
                <a:schemeClr val="tx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F2E1BB-E1D1-9253-4936-568468035C8F}"/>
              </a:ext>
            </a:extLst>
          </p:cNvPr>
          <p:cNvGrpSpPr/>
          <p:nvPr/>
        </p:nvGrpSpPr>
        <p:grpSpPr>
          <a:xfrm>
            <a:off x="707061" y="2053193"/>
            <a:ext cx="5392193" cy="3398589"/>
            <a:chOff x="801857" y="2110144"/>
            <a:chExt cx="5392193" cy="339858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0EA1C2F-F4DE-FFE3-CD58-78151B9A146A}"/>
                </a:ext>
              </a:extLst>
            </p:cNvPr>
            <p:cNvSpPr/>
            <p:nvPr/>
          </p:nvSpPr>
          <p:spPr>
            <a:xfrm>
              <a:off x="1359419" y="2110144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Spring Constant of the suspension beam [N/m]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32E1CAE-EBF4-4AA4-1459-2EB8A690D5B8}"/>
                </a:ext>
              </a:extLst>
            </p:cNvPr>
            <p:cNvSpPr/>
            <p:nvPr/>
          </p:nvSpPr>
          <p:spPr>
            <a:xfrm>
              <a:off x="801858" y="2110144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K</a:t>
              </a:r>
              <a:r>
                <a:rPr lang="en-US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B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CFEB80E-3DF7-B175-D59F-1780FD5F9A9A}"/>
                </a:ext>
              </a:extLst>
            </p:cNvPr>
            <p:cNvSpPr/>
            <p:nvPr/>
          </p:nvSpPr>
          <p:spPr>
            <a:xfrm>
              <a:off x="1359419" y="3007046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between the rail and electromagnet [m]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50F4A3F-6E60-4347-9B10-1676A3BB5D87}"/>
                </a:ext>
              </a:extLst>
            </p:cNvPr>
            <p:cNvSpPr/>
            <p:nvPr/>
          </p:nvSpPr>
          <p:spPr>
            <a:xfrm>
              <a:off x="801858" y="3007046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R</a:t>
              </a:r>
              <a:endParaRPr lang="en-CA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FB41627-982D-B778-D5FB-69AF84047940}"/>
                </a:ext>
              </a:extLst>
            </p:cNvPr>
            <p:cNvSpPr/>
            <p:nvPr/>
          </p:nvSpPr>
          <p:spPr>
            <a:xfrm>
              <a:off x="1359419" y="3903948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Distance from the ground to electromagnet [m]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B112771-AEA4-9FA5-D3E6-59EE2052BB30}"/>
                </a:ext>
              </a:extLst>
            </p:cNvPr>
            <p:cNvSpPr/>
            <p:nvPr/>
          </p:nvSpPr>
          <p:spPr>
            <a:xfrm>
              <a:off x="801857" y="3903948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>
                  <a:solidFill>
                    <a:srgbClr val="001E2F"/>
                  </a:solidFill>
                  <a:latin typeface="Montserrat" panose="00000500000000000000" pitchFamily="2" charset="0"/>
                </a:rPr>
                <a:t>Z</a:t>
              </a:r>
              <a:r>
                <a:rPr lang="en-US" sz="1500" b="1" spc="300" baseline="-25000">
                  <a:solidFill>
                    <a:srgbClr val="001E2F"/>
                  </a:solidFill>
                  <a:latin typeface="Montserrat" panose="00000500000000000000" pitchFamily="2" charset="0"/>
                </a:rPr>
                <a:t>E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9723CBD-ECC1-5B39-722E-EA15EBF5CFFF}"/>
                </a:ext>
              </a:extLst>
            </p:cNvPr>
            <p:cNvSpPr/>
            <p:nvPr/>
          </p:nvSpPr>
          <p:spPr>
            <a:xfrm>
              <a:off x="1359419" y="4800850"/>
              <a:ext cx="4834631" cy="707883"/>
            </a:xfrm>
            <a:prstGeom prst="rect">
              <a:avLst/>
            </a:prstGeom>
            <a:solidFill>
              <a:srgbClr val="1826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  <a:latin typeface="Montserrat" panose="00000500000000000000" pitchFamily="2" charset="0"/>
                  <a:ea typeface="+mn-lt"/>
                  <a:cs typeface="+mn-lt"/>
                </a:rPr>
                <a:t>Mass of one electromagnet [kg]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6E0A5CB-9162-9430-AD69-427241E4DC23}"/>
                </a:ext>
              </a:extLst>
            </p:cNvPr>
            <p:cNvSpPr/>
            <p:nvPr/>
          </p:nvSpPr>
          <p:spPr>
            <a:xfrm>
              <a:off x="801857" y="4800850"/>
              <a:ext cx="557561" cy="480844"/>
            </a:xfrm>
            <a:prstGeom prst="rect">
              <a:avLst/>
            </a:prstGeom>
            <a:solidFill>
              <a:srgbClr val="FABD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spc="300" err="1">
                  <a:solidFill>
                    <a:srgbClr val="001E2F"/>
                  </a:solidFill>
                  <a:latin typeface="Montserrat" panose="00000500000000000000" pitchFamily="2" charset="0"/>
                </a:rPr>
                <a:t>m</a:t>
              </a:r>
              <a:r>
                <a:rPr lang="en-US" sz="1500" b="1" spc="300" baseline="-25000" err="1">
                  <a:solidFill>
                    <a:srgbClr val="001E2F"/>
                  </a:solidFill>
                  <a:latin typeface="Montserrat" panose="00000500000000000000" pitchFamily="2" charset="0"/>
                </a:rPr>
                <a:t>E</a:t>
              </a:r>
              <a:endParaRPr lang="en-CA" sz="1500" b="1" spc="300">
                <a:solidFill>
                  <a:srgbClr val="001E2F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8" name="Picture 7" descr="A diagram of a device&#10;&#10;AI-generated content may be incorrect.">
            <a:extLst>
              <a:ext uri="{FF2B5EF4-FFF2-40B4-BE49-F238E27FC236}">
                <a16:creationId xmlns:a16="http://schemas.microsoft.com/office/drawing/2014/main" id="{952B8491-45DC-3CE0-2915-933FFC1C54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5291" r="14187" b="10285"/>
          <a:stretch/>
        </p:blipFill>
        <p:spPr>
          <a:xfrm>
            <a:off x="7287493" y="2068354"/>
            <a:ext cx="3222012" cy="3010328"/>
          </a:xfrm>
          <a:prstGeom prst="rect">
            <a:avLst/>
          </a:prstGeom>
        </p:spPr>
      </p:pic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F02E650F-1B9F-76DF-D334-A7259C4831EF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6099254" y="3429000"/>
            <a:ext cx="2269753" cy="1668841"/>
          </a:xfrm>
          <a:prstGeom prst="bentConnector3">
            <a:avLst/>
          </a:prstGeom>
          <a:ln w="28575">
            <a:solidFill>
              <a:srgbClr val="1826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0F7D8CB-D900-BB0E-4F96-747A1AAFD5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6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ECAB-1BCF-3F5E-5828-4F679804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A1F39-2B19-B9C3-3BCC-4C55527C56C2}"/>
              </a:ext>
            </a:extLst>
          </p:cNvPr>
          <p:cNvSpPr txBox="1"/>
          <p:nvPr/>
        </p:nvSpPr>
        <p:spPr>
          <a:xfrm>
            <a:off x="1018168" y="501803"/>
            <a:ext cx="35579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Free Body Diagrams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 panose="00000500000000000000" pitchFamily="2" charset="0"/>
              </a:rPr>
              <a:t>Rail Vibration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55EF5242-F46B-0665-271E-43C8B74DB683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EC71A17F-45E1-4BFC-8AE3-EEBF63883B12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7FADD5-27DF-5ACC-D2B7-76B05E8C773E}"/>
              </a:ext>
            </a:extLst>
          </p:cNvPr>
          <p:cNvGrpSpPr/>
          <p:nvPr/>
        </p:nvGrpSpPr>
        <p:grpSpPr>
          <a:xfrm>
            <a:off x="501954" y="1580893"/>
            <a:ext cx="2579914" cy="4369531"/>
            <a:chOff x="1673382" y="1846420"/>
            <a:chExt cx="2579914" cy="3842657"/>
          </a:xfrm>
          <a:solidFill>
            <a:srgbClr val="182650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E11949D-A1A5-318C-AF82-8A5E7D3CEC41}"/>
                </a:ext>
              </a:extLst>
            </p:cNvPr>
            <p:cNvSpPr/>
            <p:nvPr/>
          </p:nvSpPr>
          <p:spPr>
            <a:xfrm>
              <a:off x="1673382" y="1846420"/>
              <a:ext cx="2579914" cy="3842657"/>
            </a:xfrm>
            <a:prstGeom prst="round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59007E1-1DFB-117B-F678-A18B3C485802}"/>
                </a:ext>
              </a:extLst>
            </p:cNvPr>
            <p:cNvSpPr txBox="1"/>
            <p:nvPr/>
          </p:nvSpPr>
          <p:spPr>
            <a:xfrm>
              <a:off x="1958102" y="2119229"/>
              <a:ext cx="2010487" cy="2977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latin typeface="Montserrat" panose="00000500000000000000" pitchFamily="2" charset="0"/>
                </a:rPr>
                <a:t>Forward-Left (F</a:t>
              </a:r>
              <a:r>
                <a:rPr lang="en-US" sz="1600" b="1" baseline="-25000">
                  <a:solidFill>
                    <a:schemeClr val="bg1"/>
                  </a:solidFill>
                  <a:latin typeface="Montserrat" panose="00000500000000000000" pitchFamily="2" charset="0"/>
                </a:rPr>
                <a:t>L</a:t>
              </a:r>
              <a:r>
                <a:rPr lang="en-US" sz="1600" b="1">
                  <a:solidFill>
                    <a:schemeClr val="bg1"/>
                  </a:solidFill>
                  <a:latin typeface="Montserrat" panose="00000500000000000000" pitchFamily="2" charset="0"/>
                </a:rPr>
                <a:t>)</a:t>
              </a:r>
              <a:endParaRPr lang="en-CA" sz="1600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9B78411-15D0-9CC9-C91C-7B53BD59A10A}"/>
                </a:ext>
              </a:extLst>
            </p:cNvPr>
            <p:cNvCxnSpPr/>
            <p:nvPr/>
          </p:nvCxnSpPr>
          <p:spPr>
            <a:xfrm>
              <a:off x="2314668" y="5410674"/>
              <a:ext cx="129733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92BC98-CEBB-11E7-6B94-85724744A04D}"/>
              </a:ext>
            </a:extLst>
          </p:cNvPr>
          <p:cNvGrpSpPr/>
          <p:nvPr/>
        </p:nvGrpSpPr>
        <p:grpSpPr>
          <a:xfrm>
            <a:off x="3336944" y="1580893"/>
            <a:ext cx="2579914" cy="4369531"/>
            <a:chOff x="4806043" y="1846420"/>
            <a:chExt cx="2579914" cy="3842657"/>
          </a:xfrm>
          <a:solidFill>
            <a:srgbClr val="FABD12"/>
          </a:solidFill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9B77C40-1F00-AA37-7235-44A84B25165A}"/>
                </a:ext>
              </a:extLst>
            </p:cNvPr>
            <p:cNvSpPr/>
            <p:nvPr/>
          </p:nvSpPr>
          <p:spPr>
            <a:xfrm>
              <a:off x="4806043" y="1846420"/>
              <a:ext cx="2579914" cy="3842657"/>
            </a:xfrm>
            <a:prstGeom prst="round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33B0AD-BB1D-D393-1C85-FE1A526008AF}"/>
                </a:ext>
              </a:extLst>
            </p:cNvPr>
            <p:cNvSpPr txBox="1"/>
            <p:nvPr/>
          </p:nvSpPr>
          <p:spPr>
            <a:xfrm>
              <a:off x="4955308" y="2119229"/>
              <a:ext cx="2281395" cy="2977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latin typeface="Montserrat" panose="00000500000000000000" pitchFamily="2" charset="0"/>
                </a:rPr>
                <a:t>Forward-Right (F</a:t>
              </a:r>
              <a:r>
                <a:rPr lang="en-US" sz="1600" b="1" baseline="-25000">
                  <a:latin typeface="Montserrat" panose="00000500000000000000" pitchFamily="2" charset="0"/>
                </a:rPr>
                <a:t>FR</a:t>
              </a:r>
              <a:r>
                <a:rPr lang="en-US" sz="1600" b="1">
                  <a:latin typeface="Montserrat" panose="00000500000000000000" pitchFamily="2" charset="0"/>
                </a:rPr>
                <a:t>)</a:t>
              </a:r>
              <a:endParaRPr lang="en-CA" sz="1600" b="1">
                <a:latin typeface="Montserrat" panose="00000500000000000000" pitchFamily="2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961970-A529-791A-B917-D7623A37936D}"/>
                </a:ext>
              </a:extLst>
            </p:cNvPr>
            <p:cNvCxnSpPr/>
            <p:nvPr/>
          </p:nvCxnSpPr>
          <p:spPr>
            <a:xfrm>
              <a:off x="5447329" y="5410674"/>
              <a:ext cx="129733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49693D8-DB61-9A18-F5DC-A02AF72DB8D9}"/>
              </a:ext>
            </a:extLst>
          </p:cNvPr>
          <p:cNvGrpSpPr/>
          <p:nvPr/>
        </p:nvGrpSpPr>
        <p:grpSpPr>
          <a:xfrm>
            <a:off x="6171934" y="1580893"/>
            <a:ext cx="2579914" cy="4369531"/>
            <a:chOff x="7950480" y="1846420"/>
            <a:chExt cx="2579914" cy="3842657"/>
          </a:xfrm>
          <a:solidFill>
            <a:srgbClr val="182650"/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61CBD15-1A9F-9C13-60CB-515ADA39C8F7}"/>
                </a:ext>
              </a:extLst>
            </p:cNvPr>
            <p:cNvSpPr/>
            <p:nvPr/>
          </p:nvSpPr>
          <p:spPr>
            <a:xfrm>
              <a:off x="7950480" y="1846420"/>
              <a:ext cx="2579914" cy="3842657"/>
            </a:xfrm>
            <a:prstGeom prst="round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34217A-0AFD-4246-EA29-6DF2571C39E7}"/>
                </a:ext>
              </a:extLst>
            </p:cNvPr>
            <p:cNvSpPr txBox="1"/>
            <p:nvPr/>
          </p:nvSpPr>
          <p:spPr>
            <a:xfrm>
              <a:off x="8471639" y="2098197"/>
              <a:ext cx="1537600" cy="2977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latin typeface="Montserrat" panose="00000500000000000000" pitchFamily="2" charset="0"/>
                </a:rPr>
                <a:t>Aft-Left (F</a:t>
              </a:r>
              <a:r>
                <a:rPr lang="en-US" sz="1600" b="1" baseline="-25000">
                  <a:solidFill>
                    <a:schemeClr val="bg1"/>
                  </a:solidFill>
                  <a:latin typeface="Montserrat" panose="00000500000000000000" pitchFamily="2" charset="0"/>
                </a:rPr>
                <a:t>AL</a:t>
              </a:r>
              <a:r>
                <a:rPr lang="en-US" sz="1600" b="1">
                  <a:solidFill>
                    <a:schemeClr val="bg1"/>
                  </a:solidFill>
                  <a:latin typeface="Montserrat" panose="00000500000000000000" pitchFamily="2" charset="0"/>
                </a:rPr>
                <a:t>)</a:t>
              </a:r>
              <a:endParaRPr lang="en-CA" sz="1600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79D952A-8FC4-FF07-CCD7-D5015A7EAFD7}"/>
                </a:ext>
              </a:extLst>
            </p:cNvPr>
            <p:cNvCxnSpPr/>
            <p:nvPr/>
          </p:nvCxnSpPr>
          <p:spPr>
            <a:xfrm>
              <a:off x="8591766" y="5410674"/>
              <a:ext cx="129733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DDCE701-A2C6-0FCF-7B54-4A3D418DEA99}"/>
              </a:ext>
            </a:extLst>
          </p:cNvPr>
          <p:cNvGrpSpPr/>
          <p:nvPr/>
        </p:nvGrpSpPr>
        <p:grpSpPr>
          <a:xfrm>
            <a:off x="9006924" y="1580893"/>
            <a:ext cx="2579914" cy="4369531"/>
            <a:chOff x="7950480" y="1846420"/>
            <a:chExt cx="2579914" cy="3842657"/>
          </a:xfrm>
          <a:solidFill>
            <a:srgbClr val="FABD12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D030D43-BCFD-7BE5-FF99-3EB207010908}"/>
                </a:ext>
              </a:extLst>
            </p:cNvPr>
            <p:cNvSpPr/>
            <p:nvPr/>
          </p:nvSpPr>
          <p:spPr>
            <a:xfrm>
              <a:off x="7950480" y="1846420"/>
              <a:ext cx="2579914" cy="3842657"/>
            </a:xfrm>
            <a:prstGeom prst="round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525D8F-7B86-4D81-3B39-3E3DF7F4C031}"/>
                </a:ext>
              </a:extLst>
            </p:cNvPr>
            <p:cNvSpPr txBox="1"/>
            <p:nvPr/>
          </p:nvSpPr>
          <p:spPr>
            <a:xfrm>
              <a:off x="8380268" y="2110850"/>
              <a:ext cx="1720343" cy="2977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latin typeface="Montserrat" panose="00000500000000000000" pitchFamily="2" charset="0"/>
                </a:rPr>
                <a:t>Aft-Right (F</a:t>
              </a:r>
              <a:r>
                <a:rPr lang="en-US" sz="1600" b="1" baseline="-25000">
                  <a:latin typeface="Montserrat" panose="00000500000000000000" pitchFamily="2" charset="0"/>
                </a:rPr>
                <a:t>AR</a:t>
              </a:r>
              <a:r>
                <a:rPr lang="en-US" sz="1600" b="1">
                  <a:latin typeface="Montserrat" panose="00000500000000000000" pitchFamily="2" charset="0"/>
                </a:rPr>
                <a:t>)</a:t>
              </a:r>
              <a:endParaRPr lang="en-CA" sz="1600" b="1">
                <a:latin typeface="Montserrat" panose="00000500000000000000" pitchFamily="2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2F397B-198C-0959-1781-2FFCE17A2453}"/>
                </a:ext>
              </a:extLst>
            </p:cNvPr>
            <p:cNvCxnSpPr/>
            <p:nvPr/>
          </p:nvCxnSpPr>
          <p:spPr>
            <a:xfrm>
              <a:off x="8591766" y="5410674"/>
              <a:ext cx="129733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black and white diagram&#10;&#10;AI-generated content may be incorrect.">
            <a:extLst>
              <a:ext uri="{FF2B5EF4-FFF2-40B4-BE49-F238E27FC236}">
                <a16:creationId xmlns:a16="http://schemas.microsoft.com/office/drawing/2014/main" id="{FA8CF607-A3B3-F651-0AC7-E8A6AB70D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09" y="2547946"/>
            <a:ext cx="1397000" cy="2578100"/>
          </a:xfrm>
          <a:prstGeom prst="rect">
            <a:avLst/>
          </a:prstGeom>
        </p:spPr>
      </p:pic>
      <p:pic>
        <p:nvPicPr>
          <p:cNvPr id="10" name="Picture 9" descr="A diagram of a circuit&#10;&#10;AI-generated content may be incorrect.">
            <a:extLst>
              <a:ext uri="{FF2B5EF4-FFF2-40B4-BE49-F238E27FC236}">
                <a16:creationId xmlns:a16="http://schemas.microsoft.com/office/drawing/2014/main" id="{F763783B-1E48-844F-220F-906845050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247" y="2539874"/>
            <a:ext cx="1485900" cy="2501900"/>
          </a:xfrm>
          <a:prstGeom prst="rect">
            <a:avLst/>
          </a:prstGeom>
        </p:spPr>
      </p:pic>
      <p:pic>
        <p:nvPicPr>
          <p:cNvPr id="12" name="Picture 11" descr="A black and white diagram of a square with a black line&#10;&#10;AI-generated content may be incorrect.">
            <a:extLst>
              <a:ext uri="{FF2B5EF4-FFF2-40B4-BE49-F238E27FC236}">
                <a16:creationId xmlns:a16="http://schemas.microsoft.com/office/drawing/2014/main" id="{AA630488-B995-7E92-C139-F59E171390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489" y="2539874"/>
            <a:ext cx="1447800" cy="2578100"/>
          </a:xfrm>
          <a:prstGeom prst="rect">
            <a:avLst/>
          </a:prstGeom>
        </p:spPr>
      </p:pic>
      <p:pic>
        <p:nvPicPr>
          <p:cNvPr id="35" name="Picture 34" descr="A diagram of a square with arrows&#10;&#10;AI-generated content may be incorrect.">
            <a:extLst>
              <a:ext uri="{FF2B5EF4-FFF2-40B4-BE49-F238E27FC236}">
                <a16:creationId xmlns:a16="http://schemas.microsoft.com/office/drawing/2014/main" id="{A021DE15-368E-EC8C-78CB-CE496DFD45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629" y="2641474"/>
            <a:ext cx="1714500" cy="2400300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1080470-54E0-795F-66D8-30A9DEE356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D581522-30CE-08A4-649E-1D42E12A816A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6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1329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5712-B74A-4995-6C8A-B5072F70D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25ED0B-0B04-8896-7014-114EB1892F5E}"/>
              </a:ext>
            </a:extLst>
          </p:cNvPr>
          <p:cNvSpPr txBox="1"/>
          <p:nvPr/>
        </p:nvSpPr>
        <p:spPr>
          <a:xfrm>
            <a:off x="1018168" y="501803"/>
            <a:ext cx="34708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Free Body Diagrams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 panose="00000500000000000000" pitchFamily="2" charset="0"/>
              </a:rPr>
              <a:t> Electromagnet Vibration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247E01BD-8440-E802-0B32-98FE68A84735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F587A16-FC38-75B8-B68A-A5E8F058C0D1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A62121-A87C-6B26-5817-34AC128D49DE}"/>
              </a:ext>
            </a:extLst>
          </p:cNvPr>
          <p:cNvGrpSpPr/>
          <p:nvPr/>
        </p:nvGrpSpPr>
        <p:grpSpPr>
          <a:xfrm>
            <a:off x="501954" y="1580893"/>
            <a:ext cx="2579914" cy="4369531"/>
            <a:chOff x="1673382" y="1846420"/>
            <a:chExt cx="2579914" cy="3842657"/>
          </a:xfrm>
          <a:solidFill>
            <a:srgbClr val="182650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BD0A987-C533-DA3C-384B-7F5E3BB4583C}"/>
                </a:ext>
              </a:extLst>
            </p:cNvPr>
            <p:cNvSpPr/>
            <p:nvPr/>
          </p:nvSpPr>
          <p:spPr>
            <a:xfrm>
              <a:off x="1673382" y="1846420"/>
              <a:ext cx="2579914" cy="3842657"/>
            </a:xfrm>
            <a:prstGeom prst="round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876DB27-C825-B6BD-5841-1CD569F9E770}"/>
                </a:ext>
              </a:extLst>
            </p:cNvPr>
            <p:cNvSpPr txBox="1"/>
            <p:nvPr/>
          </p:nvSpPr>
          <p:spPr>
            <a:xfrm>
              <a:off x="1958106" y="2119229"/>
              <a:ext cx="2010487" cy="2977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latin typeface="Montserrat" panose="00000500000000000000" pitchFamily="2" charset="0"/>
                </a:rPr>
                <a:t>Forward-Left (F</a:t>
              </a:r>
              <a:r>
                <a:rPr lang="en-US" sz="1600" b="1" baseline="-25000">
                  <a:solidFill>
                    <a:schemeClr val="bg1"/>
                  </a:solidFill>
                  <a:latin typeface="Montserrat" panose="00000500000000000000" pitchFamily="2" charset="0"/>
                </a:rPr>
                <a:t>L</a:t>
              </a:r>
              <a:r>
                <a:rPr lang="en-US" sz="1600" b="1">
                  <a:solidFill>
                    <a:schemeClr val="bg1"/>
                  </a:solidFill>
                  <a:latin typeface="Montserrat" panose="00000500000000000000" pitchFamily="2" charset="0"/>
                </a:rPr>
                <a:t>)</a:t>
              </a:r>
              <a:endParaRPr lang="en-CA" sz="1600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8B6307-E4C3-8A75-0098-D04FC93883BF}"/>
                </a:ext>
              </a:extLst>
            </p:cNvPr>
            <p:cNvCxnSpPr/>
            <p:nvPr/>
          </p:nvCxnSpPr>
          <p:spPr>
            <a:xfrm>
              <a:off x="2314668" y="5410674"/>
              <a:ext cx="129733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40FDBF1-8867-B42E-B8DC-A4CE218F6BCE}"/>
              </a:ext>
            </a:extLst>
          </p:cNvPr>
          <p:cNvGrpSpPr/>
          <p:nvPr/>
        </p:nvGrpSpPr>
        <p:grpSpPr>
          <a:xfrm>
            <a:off x="3336944" y="1580893"/>
            <a:ext cx="2579914" cy="4369531"/>
            <a:chOff x="4806043" y="1846420"/>
            <a:chExt cx="2579914" cy="3842657"/>
          </a:xfrm>
          <a:solidFill>
            <a:srgbClr val="FABD12"/>
          </a:solidFill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199B0E6-4C0D-7108-B694-768655B1B592}"/>
                </a:ext>
              </a:extLst>
            </p:cNvPr>
            <p:cNvSpPr/>
            <p:nvPr/>
          </p:nvSpPr>
          <p:spPr>
            <a:xfrm>
              <a:off x="4806043" y="1846420"/>
              <a:ext cx="2579914" cy="3842657"/>
            </a:xfrm>
            <a:prstGeom prst="round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52A8361-5F64-B7F0-3AA9-C6576AEFC796}"/>
                </a:ext>
              </a:extLst>
            </p:cNvPr>
            <p:cNvSpPr txBox="1"/>
            <p:nvPr/>
          </p:nvSpPr>
          <p:spPr>
            <a:xfrm>
              <a:off x="4965732" y="2119229"/>
              <a:ext cx="2260555" cy="2977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latin typeface="Montserrat" panose="00000500000000000000" pitchFamily="2" charset="0"/>
                </a:rPr>
                <a:t>Forward-Right (F</a:t>
              </a:r>
              <a:r>
                <a:rPr lang="en-US" sz="1600" b="1" baseline="-25000">
                  <a:latin typeface="Montserrat" panose="00000500000000000000" pitchFamily="2" charset="0"/>
                </a:rPr>
                <a:t>FR</a:t>
              </a:r>
              <a:r>
                <a:rPr lang="en-US" sz="1600" b="1">
                  <a:latin typeface="Montserrat" panose="00000500000000000000" pitchFamily="2" charset="0"/>
                </a:rPr>
                <a:t>)</a:t>
              </a:r>
              <a:endParaRPr lang="en-CA" sz="1600" b="1">
                <a:latin typeface="Montserrat" panose="00000500000000000000" pitchFamily="2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C81B75-7F55-D364-26B0-53B628CEC793}"/>
                </a:ext>
              </a:extLst>
            </p:cNvPr>
            <p:cNvCxnSpPr/>
            <p:nvPr/>
          </p:nvCxnSpPr>
          <p:spPr>
            <a:xfrm>
              <a:off x="5447329" y="5410674"/>
              <a:ext cx="129733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8DEE6E-43DD-7FF1-FD8D-5FAA75E731CF}"/>
              </a:ext>
            </a:extLst>
          </p:cNvPr>
          <p:cNvGrpSpPr/>
          <p:nvPr/>
        </p:nvGrpSpPr>
        <p:grpSpPr>
          <a:xfrm>
            <a:off x="6171934" y="1580893"/>
            <a:ext cx="2579914" cy="4369531"/>
            <a:chOff x="7950480" y="1846420"/>
            <a:chExt cx="2579914" cy="3842657"/>
          </a:xfrm>
          <a:solidFill>
            <a:srgbClr val="182650"/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6F268EF-727F-393F-AB14-BD3771E04EC4}"/>
                </a:ext>
              </a:extLst>
            </p:cNvPr>
            <p:cNvSpPr/>
            <p:nvPr/>
          </p:nvSpPr>
          <p:spPr>
            <a:xfrm>
              <a:off x="7950480" y="1846420"/>
              <a:ext cx="2579914" cy="3842657"/>
            </a:xfrm>
            <a:prstGeom prst="round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4AB7C24-D809-E868-EAF2-28B2B9A4357B}"/>
                </a:ext>
              </a:extLst>
            </p:cNvPr>
            <p:cNvSpPr txBox="1"/>
            <p:nvPr/>
          </p:nvSpPr>
          <p:spPr>
            <a:xfrm>
              <a:off x="8471643" y="2098197"/>
              <a:ext cx="1537601" cy="2977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latin typeface="Montserrat" panose="00000500000000000000" pitchFamily="2" charset="0"/>
                </a:rPr>
                <a:t>Aft-Left (F</a:t>
              </a:r>
              <a:r>
                <a:rPr lang="en-US" sz="1600" b="1" baseline="-25000">
                  <a:solidFill>
                    <a:schemeClr val="bg1"/>
                  </a:solidFill>
                  <a:latin typeface="Montserrat" panose="00000500000000000000" pitchFamily="2" charset="0"/>
                </a:rPr>
                <a:t>AL</a:t>
              </a:r>
              <a:r>
                <a:rPr lang="en-US" sz="1600" b="1">
                  <a:solidFill>
                    <a:schemeClr val="bg1"/>
                  </a:solidFill>
                  <a:latin typeface="Montserrat" panose="00000500000000000000" pitchFamily="2" charset="0"/>
                </a:rPr>
                <a:t>)</a:t>
              </a:r>
              <a:endParaRPr lang="en-CA" sz="1600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547CF2-8AE7-03EE-BA35-B849DA15448B}"/>
                </a:ext>
              </a:extLst>
            </p:cNvPr>
            <p:cNvCxnSpPr/>
            <p:nvPr/>
          </p:nvCxnSpPr>
          <p:spPr>
            <a:xfrm>
              <a:off x="8591766" y="5410674"/>
              <a:ext cx="129733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46DE9E8-82CC-0F2B-E27D-9C1EF3A3E465}"/>
              </a:ext>
            </a:extLst>
          </p:cNvPr>
          <p:cNvGrpSpPr/>
          <p:nvPr/>
        </p:nvGrpSpPr>
        <p:grpSpPr>
          <a:xfrm>
            <a:off x="9006924" y="1580893"/>
            <a:ext cx="2579914" cy="4369531"/>
            <a:chOff x="7950480" y="1846420"/>
            <a:chExt cx="2579914" cy="3842657"/>
          </a:xfrm>
          <a:solidFill>
            <a:srgbClr val="FABD12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541C9B3-C909-05E0-7C5E-34833491D4F2}"/>
                </a:ext>
              </a:extLst>
            </p:cNvPr>
            <p:cNvSpPr/>
            <p:nvPr/>
          </p:nvSpPr>
          <p:spPr>
            <a:xfrm>
              <a:off x="7950480" y="1846420"/>
              <a:ext cx="2579914" cy="3842657"/>
            </a:xfrm>
            <a:prstGeom prst="round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92289A8-8374-6915-BA37-98DD979CFD36}"/>
                </a:ext>
              </a:extLst>
            </p:cNvPr>
            <p:cNvSpPr txBox="1"/>
            <p:nvPr/>
          </p:nvSpPr>
          <p:spPr>
            <a:xfrm>
              <a:off x="8380271" y="2110850"/>
              <a:ext cx="1720343" cy="2977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latin typeface="Montserrat" panose="00000500000000000000" pitchFamily="2" charset="0"/>
                </a:rPr>
                <a:t>Aft-Right (F</a:t>
              </a:r>
              <a:r>
                <a:rPr lang="en-US" sz="1600" b="1" baseline="-25000">
                  <a:latin typeface="Montserrat" panose="00000500000000000000" pitchFamily="2" charset="0"/>
                </a:rPr>
                <a:t>AR</a:t>
              </a:r>
              <a:r>
                <a:rPr lang="en-US" sz="1600" b="1">
                  <a:latin typeface="Montserrat" panose="00000500000000000000" pitchFamily="2" charset="0"/>
                </a:rPr>
                <a:t>)</a:t>
              </a:r>
              <a:endParaRPr lang="en-CA" sz="1600" b="1">
                <a:latin typeface="Montserrat" panose="00000500000000000000" pitchFamily="2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F4FD240-63EB-A22E-E630-2C7F5766C106}"/>
                </a:ext>
              </a:extLst>
            </p:cNvPr>
            <p:cNvCxnSpPr/>
            <p:nvPr/>
          </p:nvCxnSpPr>
          <p:spPr>
            <a:xfrm>
              <a:off x="8591766" y="5410674"/>
              <a:ext cx="129733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black and white diagram of a square with two legs&#10;&#10;AI-generated content may be incorrect.">
            <a:extLst>
              <a:ext uri="{FF2B5EF4-FFF2-40B4-BE49-F238E27FC236}">
                <a16:creationId xmlns:a16="http://schemas.microsoft.com/office/drawing/2014/main" id="{C8E73473-B12F-BB1F-A8DB-9A1EF1036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20" y="2539874"/>
            <a:ext cx="1371600" cy="2565400"/>
          </a:xfrm>
          <a:prstGeom prst="rect">
            <a:avLst/>
          </a:prstGeom>
        </p:spPr>
      </p:pic>
      <p:pic>
        <p:nvPicPr>
          <p:cNvPr id="10" name="Picture 9" descr="A diagram of a square with two lines&#10;&#10;AI-generated content may be incorrect.">
            <a:extLst>
              <a:ext uri="{FF2B5EF4-FFF2-40B4-BE49-F238E27FC236}">
                <a16:creationId xmlns:a16="http://schemas.microsoft.com/office/drawing/2014/main" id="{CD056CCC-2542-BC45-7196-6527E380C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19" y="2539874"/>
            <a:ext cx="1409700" cy="2540000"/>
          </a:xfrm>
          <a:prstGeom prst="rect">
            <a:avLst/>
          </a:prstGeom>
        </p:spPr>
      </p:pic>
      <p:pic>
        <p:nvPicPr>
          <p:cNvPr id="12" name="Picture 11" descr="A black and white drawing of a square object with two legs&#10;&#10;AI-generated content may be incorrect.">
            <a:extLst>
              <a:ext uri="{FF2B5EF4-FFF2-40B4-BE49-F238E27FC236}">
                <a16:creationId xmlns:a16="http://schemas.microsoft.com/office/drawing/2014/main" id="{2E6A2B4A-F209-E2EA-6429-B62ADB2AA4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89" y="2489074"/>
            <a:ext cx="1498600" cy="2616200"/>
          </a:xfrm>
          <a:prstGeom prst="rect">
            <a:avLst/>
          </a:prstGeom>
        </p:spPr>
      </p:pic>
      <p:pic>
        <p:nvPicPr>
          <p:cNvPr id="35" name="Picture 34" descr="A diagram of a square with arrows&#10;&#10;AI-generated content may be incorrect.">
            <a:extLst>
              <a:ext uri="{FF2B5EF4-FFF2-40B4-BE49-F238E27FC236}">
                <a16:creationId xmlns:a16="http://schemas.microsoft.com/office/drawing/2014/main" id="{93464006-8194-B284-AC27-D7ACE14B81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57"/>
          <a:stretch/>
        </p:blipFill>
        <p:spPr>
          <a:xfrm>
            <a:off x="9648210" y="2475724"/>
            <a:ext cx="1297339" cy="2565400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3675A25-0A1C-6984-53C2-B8B7E26A8D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E5A70B-6AE6-7A03-B322-39C19AB455D1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7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7417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97F54F-5590-818E-EB07-A8200633ED81}"/>
              </a:ext>
            </a:extLst>
          </p:cNvPr>
          <p:cNvSpPr txBox="1"/>
          <p:nvPr/>
        </p:nvSpPr>
        <p:spPr>
          <a:xfrm>
            <a:off x="1018168" y="628972"/>
            <a:ext cx="3441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Equations of Motion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951EFCB7-B921-55C8-B744-65CCCE5A3B09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E7063A5-E3CF-998F-213E-6640643C3013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A09C29-5A24-5F79-0620-BA1B20319A85}"/>
              </a:ext>
            </a:extLst>
          </p:cNvPr>
          <p:cNvSpPr/>
          <p:nvPr/>
        </p:nvSpPr>
        <p:spPr>
          <a:xfrm>
            <a:off x="482956" y="1640545"/>
            <a:ext cx="3582635" cy="4249085"/>
          </a:xfrm>
          <a:prstGeom prst="roundRect">
            <a:avLst/>
          </a:prstGeom>
          <a:solidFill>
            <a:srgbClr val="182650"/>
          </a:solidFill>
          <a:ln w="571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00F31A-824F-5E3F-6501-F79960D98577}"/>
              </a:ext>
            </a:extLst>
          </p:cNvPr>
          <p:cNvSpPr/>
          <p:nvPr/>
        </p:nvSpPr>
        <p:spPr>
          <a:xfrm>
            <a:off x="4400719" y="1640546"/>
            <a:ext cx="3582635" cy="4249085"/>
          </a:xfrm>
          <a:prstGeom prst="roundRect">
            <a:avLst/>
          </a:prstGeom>
          <a:solidFill>
            <a:srgbClr val="FABD12"/>
          </a:solidFill>
          <a:ln w="571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2D91D0-57D7-E806-5079-3CB2B24F3A63}"/>
              </a:ext>
            </a:extLst>
          </p:cNvPr>
          <p:cNvSpPr/>
          <p:nvPr/>
        </p:nvSpPr>
        <p:spPr>
          <a:xfrm>
            <a:off x="8248764" y="1640546"/>
            <a:ext cx="3582635" cy="4249085"/>
          </a:xfrm>
          <a:prstGeom prst="roundRect">
            <a:avLst/>
          </a:prstGeom>
          <a:solidFill>
            <a:srgbClr val="BA1F34"/>
          </a:solidFill>
          <a:ln w="571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554EF0-AFD3-70C4-FB4C-7375F5540D0D}"/>
              </a:ext>
            </a:extLst>
          </p:cNvPr>
          <p:cNvSpPr txBox="1"/>
          <p:nvPr/>
        </p:nvSpPr>
        <p:spPr>
          <a:xfrm>
            <a:off x="1028062" y="1880836"/>
            <a:ext cx="239624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Montserrat"/>
              </a:rPr>
              <a:t>Rail Vibration</a:t>
            </a:r>
            <a:endParaRPr lang="en-CA" b="1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DC28A7-0FA2-10C7-246A-5BF507691456}"/>
              </a:ext>
            </a:extLst>
          </p:cNvPr>
          <p:cNvSpPr txBox="1"/>
          <p:nvPr/>
        </p:nvSpPr>
        <p:spPr>
          <a:xfrm>
            <a:off x="4709973" y="1837233"/>
            <a:ext cx="277205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>
                <a:latin typeface="Montserrat"/>
              </a:rPr>
              <a:t>Electromagnet Vibration</a:t>
            </a:r>
            <a:endParaRPr lang="en-CA" b="1">
              <a:latin typeface="Montserra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787326-C68B-B881-ECF6-FA1740B77AC1}"/>
              </a:ext>
            </a:extLst>
          </p:cNvPr>
          <p:cNvSpPr txBox="1"/>
          <p:nvPr/>
        </p:nvSpPr>
        <p:spPr>
          <a:xfrm>
            <a:off x="8464930" y="1880836"/>
            <a:ext cx="313319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Montserrat"/>
              </a:rPr>
              <a:t>Pitch and Roll</a:t>
            </a:r>
            <a:endParaRPr lang="en-CA" b="1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1BF98A-BC7A-F27C-79EE-DC4036FCE700}"/>
              </a:ext>
            </a:extLst>
          </p:cNvPr>
          <p:cNvSpPr txBox="1"/>
          <p:nvPr/>
        </p:nvSpPr>
        <p:spPr>
          <a:xfrm>
            <a:off x="1295599" y="7762068"/>
            <a:ext cx="237591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Montserrat"/>
              </a:rPr>
              <a:t>The </a:t>
            </a:r>
            <a:r>
              <a:rPr lang="en-CA" sz="1200">
                <a:solidFill>
                  <a:schemeClr val="bg1"/>
                </a:solidFill>
                <a:latin typeface="Montserrat"/>
              </a:rPr>
              <a:t>p</a:t>
            </a:r>
            <a:r>
              <a:rPr lang="en-US" sz="1200" err="1">
                <a:solidFill>
                  <a:schemeClr val="bg1"/>
                </a:solidFill>
                <a:latin typeface="Montserrat"/>
              </a:rPr>
              <a:t>rimary</a:t>
            </a:r>
            <a:r>
              <a:rPr lang="en-US" sz="1200">
                <a:solidFill>
                  <a:schemeClr val="bg1"/>
                </a:solidFill>
                <a:latin typeface="Montserrat"/>
              </a:rPr>
              <a:t> usage of the Hyperloop path system will determine its proximity to metropolitan regions and surrounding transportation systems.</a:t>
            </a:r>
            <a:endParaRPr lang="en-US" sz="12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49EC7B-8756-D40B-3356-C6A29D6E6EFD}"/>
              </a:ext>
            </a:extLst>
          </p:cNvPr>
          <p:cNvSpPr txBox="1"/>
          <p:nvPr/>
        </p:nvSpPr>
        <p:spPr>
          <a:xfrm>
            <a:off x="8084530" y="7270677"/>
            <a:ext cx="237591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>
                <a:latin typeface="Montserrat"/>
              </a:rPr>
              <a:t>Construction and operational costs will depend on land prices, taxes, and subsidization practices which varies from region to region.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1" name="Picture 2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183CFC7-EBCA-1E42-49DC-EC3467FCF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359" y="390125"/>
            <a:ext cx="3132691" cy="1096172"/>
          </a:xfrm>
          <a:prstGeom prst="rect">
            <a:avLst/>
          </a:prstGeom>
        </p:spPr>
      </p:pic>
      <p:pic>
        <p:nvPicPr>
          <p:cNvPr id="24" name="Picture 23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F9C7F988-F3E3-847E-443F-373648A204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119" y="3642872"/>
            <a:ext cx="2644815" cy="854055"/>
          </a:xfrm>
          <a:prstGeom prst="rect">
            <a:avLst/>
          </a:prstGeom>
        </p:spPr>
      </p:pic>
      <p:pic>
        <p:nvPicPr>
          <p:cNvPr id="33" name="Picture 32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2ED0DB22-4BDB-E7AF-28A3-9A9A12A92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439" y="4635101"/>
            <a:ext cx="2576176" cy="105449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57007DD-DF37-A29D-E2F7-329838686989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8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4E94AD-637D-6E00-CF9B-6100D69FFACD}"/>
              </a:ext>
            </a:extLst>
          </p:cNvPr>
          <p:cNvSpPr/>
          <p:nvPr/>
        </p:nvSpPr>
        <p:spPr>
          <a:xfrm>
            <a:off x="673273" y="4014196"/>
            <a:ext cx="3201999" cy="461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5CF429-16E0-3813-66B3-BBC837C33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781" y="4156233"/>
            <a:ext cx="3176491" cy="2593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A2CC00-E540-D7DF-54BB-227B3523A2EB}"/>
              </a:ext>
            </a:extLst>
          </p:cNvPr>
          <p:cNvSpPr/>
          <p:nvPr/>
        </p:nvSpPr>
        <p:spPr>
          <a:xfrm>
            <a:off x="4456044" y="4057740"/>
            <a:ext cx="3422433" cy="338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2D52AA-6BA3-82B6-1834-58B77E8F18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900" y="4135790"/>
            <a:ext cx="3370719" cy="182348"/>
          </a:xfrm>
          <a:prstGeom prst="rect">
            <a:avLst/>
          </a:prstGeom>
        </p:spPr>
      </p:pic>
      <p:pic>
        <p:nvPicPr>
          <p:cNvPr id="39" name="Graphic 38" descr="Train with solid fill">
            <a:extLst>
              <a:ext uri="{FF2B5EF4-FFF2-40B4-BE49-F238E27FC236}">
                <a16:creationId xmlns:a16="http://schemas.microsoft.com/office/drawing/2014/main" id="{14968A95-51DC-6E36-CA94-3D698F4227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8982" y="2674982"/>
            <a:ext cx="914400" cy="914400"/>
          </a:xfrm>
          <a:prstGeom prst="rect">
            <a:avLst/>
          </a:prstGeom>
        </p:spPr>
      </p:pic>
      <p:pic>
        <p:nvPicPr>
          <p:cNvPr id="41" name="Graphic 40" descr="Magnet with solid fill">
            <a:extLst>
              <a:ext uri="{FF2B5EF4-FFF2-40B4-BE49-F238E27FC236}">
                <a16:creationId xmlns:a16="http://schemas.microsoft.com/office/drawing/2014/main" id="{65BCDC9F-6E37-168C-D9A9-26E24340B5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34836" y="2679601"/>
            <a:ext cx="914400" cy="914400"/>
          </a:xfrm>
          <a:prstGeom prst="rect">
            <a:avLst/>
          </a:prstGeom>
        </p:spPr>
      </p:pic>
      <p:pic>
        <p:nvPicPr>
          <p:cNvPr id="45" name="Graphic 44" descr="Refresh with solid fill">
            <a:extLst>
              <a:ext uri="{FF2B5EF4-FFF2-40B4-BE49-F238E27FC236}">
                <a16:creationId xmlns:a16="http://schemas.microsoft.com/office/drawing/2014/main" id="{98517E8F-8393-39B5-446B-CD2E9FF2E1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21544" y="257297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1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3B584-DF94-7178-2BC4-F1F98242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DC84C4-BF9F-3C4E-54D3-EAE0C67B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CA" sz="2700">
                <a:solidFill>
                  <a:srgbClr val="FABD12"/>
                </a:solidFill>
                <a:latin typeface="Montserrat" panose="00000500000000000000" pitchFamily="2" charset="0"/>
                <a:cs typeface="Poppins" pitchFamily="2" charset="77"/>
              </a:rPr>
              <a:t>Section 4</a:t>
            </a:r>
            <a:br>
              <a:rPr lang="en-CA" sz="36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</a:br>
            <a:r>
              <a:rPr lang="en-CA" sz="72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  <a:t>Control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92D649-E82C-ED22-A9F2-17A127858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6049" y="439335"/>
            <a:ext cx="2944429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4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8B0027-32F4-324C-3E9B-9AE2EEAD0010}"/>
              </a:ext>
            </a:extLst>
          </p:cNvPr>
          <p:cNvSpPr txBox="1"/>
          <p:nvPr/>
        </p:nvSpPr>
        <p:spPr>
          <a:xfrm>
            <a:off x="1018168" y="501803"/>
            <a:ext cx="18101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Equations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CA" sz="1600">
                <a:latin typeface="Montserrat" panose="00000500000000000000" pitchFamily="2" charset="0"/>
              </a:rPr>
              <a:t>PID Controller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9A478490-D3B2-B765-7545-CCA35408547A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202061E-5236-BFCD-B4EC-88477CB64582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1EB04151-9E35-2F25-10CA-14C540EC293E}"/>
              </a:ext>
            </a:extLst>
          </p:cNvPr>
          <p:cNvSpPr/>
          <p:nvPr/>
        </p:nvSpPr>
        <p:spPr>
          <a:xfrm>
            <a:off x="494609" y="4330980"/>
            <a:ext cx="6366818" cy="1049251"/>
          </a:xfrm>
          <a:prstGeom prst="roundRect">
            <a:avLst/>
          </a:prstGeom>
          <a:solidFill>
            <a:srgbClr val="18265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5D1F9-2299-8AEF-52B4-7B069C38172C}"/>
              </a:ext>
            </a:extLst>
          </p:cNvPr>
          <p:cNvSpPr txBox="1"/>
          <p:nvPr/>
        </p:nvSpPr>
        <p:spPr>
          <a:xfrm>
            <a:off x="666107" y="4486273"/>
            <a:ext cx="6052042" cy="7386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1400" b="1">
                <a:solidFill>
                  <a:schemeClr val="bg1"/>
                </a:solidFill>
                <a:latin typeface="Montserrat"/>
                <a:cs typeface="Calibri"/>
              </a:rPr>
              <a:t>Output of PID Controller</a:t>
            </a:r>
            <a:br>
              <a:rPr lang="en-CA" sz="1400">
                <a:solidFill>
                  <a:schemeClr val="bg1"/>
                </a:solidFill>
                <a:latin typeface="Montserrat"/>
                <a:cs typeface="Calibri"/>
              </a:rPr>
            </a:br>
            <a:r>
              <a:rPr lang="en-CA" sz="1400">
                <a:solidFill>
                  <a:schemeClr val="bg1"/>
                </a:solidFill>
                <a:latin typeface="Montserrat"/>
                <a:cs typeface="Calibri"/>
              </a:rPr>
              <a:t>Calculates the force of attraction generated by the electromagnet using the three tuning parameters: </a:t>
            </a:r>
            <a:r>
              <a:rPr lang="en-CA" sz="1400" err="1">
                <a:solidFill>
                  <a:schemeClr val="bg1"/>
                </a:solidFill>
                <a:latin typeface="Montserrat"/>
                <a:cs typeface="Calibri"/>
              </a:rPr>
              <a:t>K</a:t>
            </a:r>
            <a:r>
              <a:rPr lang="en-CA" sz="1400" baseline="-25000" err="1">
                <a:solidFill>
                  <a:schemeClr val="bg1"/>
                </a:solidFill>
                <a:latin typeface="Montserrat"/>
                <a:cs typeface="Calibri"/>
              </a:rPr>
              <a:t>p</a:t>
            </a:r>
            <a:r>
              <a:rPr lang="en-CA" sz="1400">
                <a:solidFill>
                  <a:schemeClr val="bg1"/>
                </a:solidFill>
                <a:latin typeface="Montserrat"/>
                <a:cs typeface="Calibri"/>
              </a:rPr>
              <a:t>, </a:t>
            </a:r>
            <a:r>
              <a:rPr lang="en-CA" sz="1400" err="1">
                <a:solidFill>
                  <a:schemeClr val="bg1"/>
                </a:solidFill>
                <a:latin typeface="Montserrat"/>
                <a:cs typeface="Calibri"/>
              </a:rPr>
              <a:t>K</a:t>
            </a:r>
            <a:r>
              <a:rPr lang="en-CA" sz="1400" baseline="-25000" err="1">
                <a:solidFill>
                  <a:schemeClr val="bg1"/>
                </a:solidFill>
                <a:latin typeface="Montserrat"/>
                <a:cs typeface="Calibri"/>
              </a:rPr>
              <a:t>d</a:t>
            </a:r>
            <a:r>
              <a:rPr lang="en-CA" sz="1400">
                <a:solidFill>
                  <a:schemeClr val="bg1"/>
                </a:solidFill>
                <a:latin typeface="Montserrat"/>
                <a:cs typeface="Calibri"/>
              </a:rPr>
              <a:t>, and K</a:t>
            </a:r>
            <a:r>
              <a:rPr lang="en-CA" sz="1400" baseline="-25000">
                <a:solidFill>
                  <a:schemeClr val="bg1"/>
                </a:solidFill>
                <a:latin typeface="Montserrat"/>
                <a:cs typeface="Calibri"/>
              </a:rPr>
              <a:t>i</a:t>
            </a:r>
            <a:r>
              <a:rPr lang="en-CA" sz="1400">
                <a:solidFill>
                  <a:schemeClr val="bg1"/>
                </a:solidFill>
                <a:latin typeface="Montserrat"/>
                <a:cs typeface="Calibri"/>
              </a:rPr>
              <a:t>.</a:t>
            </a:r>
            <a:endParaRPr lang="en-US" sz="1400">
              <a:solidFill>
                <a:schemeClr val="bg1"/>
              </a:solidFill>
              <a:latin typeface="Montserrat"/>
              <a:ea typeface="+mn-lt"/>
              <a:cs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0141C5-5862-1787-765F-9DCBB66421FA}"/>
              </a:ext>
            </a:extLst>
          </p:cNvPr>
          <p:cNvGrpSpPr/>
          <p:nvPr/>
        </p:nvGrpSpPr>
        <p:grpSpPr>
          <a:xfrm>
            <a:off x="560901" y="1689753"/>
            <a:ext cx="5033151" cy="954107"/>
            <a:chOff x="837334" y="3898681"/>
            <a:chExt cx="5338480" cy="1032825"/>
          </a:xfrm>
          <a:solidFill>
            <a:srgbClr val="FABD12"/>
          </a:solidFill>
        </p:grpSpPr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29548CFF-9E9E-4052-589C-F8383EB96708}"/>
                </a:ext>
              </a:extLst>
            </p:cNvPr>
            <p:cNvSpPr/>
            <p:nvPr/>
          </p:nvSpPr>
          <p:spPr>
            <a:xfrm flipH="1">
              <a:off x="837334" y="3898681"/>
              <a:ext cx="5338480" cy="972763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872276-11EB-0B5E-B5DD-E18D0167C603}"/>
                </a:ext>
              </a:extLst>
            </p:cNvPr>
            <p:cNvSpPr txBox="1"/>
            <p:nvPr/>
          </p:nvSpPr>
          <p:spPr>
            <a:xfrm>
              <a:off x="1040022" y="3898681"/>
              <a:ext cx="4792568" cy="1032825"/>
            </a:xfrm>
            <a:prstGeom prst="rect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CA" sz="1400" b="1">
                  <a:latin typeface="Montserrat"/>
                  <a:cs typeface="Calibri"/>
                </a:rPr>
                <a:t>Gap Distance from Sensors</a:t>
              </a:r>
              <a:br>
                <a:rPr lang="en-CA" sz="1400">
                  <a:latin typeface="Montserrat"/>
                  <a:cs typeface="Calibri"/>
                </a:rPr>
              </a:br>
              <a:r>
                <a:rPr lang="en-CA" sz="1400">
                  <a:latin typeface="Montserrat"/>
                  <a:cs typeface="Calibri"/>
                </a:rPr>
                <a:t>Calculates the gap distance from the sensors using the difference of the position of the rail and the electromagnet.</a:t>
              </a:r>
              <a:endParaRPr lang="en-US" sz="1400">
                <a:latin typeface="Montserrat"/>
                <a:cs typeface="Calibri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C39CFB-D855-D49C-80A1-A976201B9CF0}"/>
              </a:ext>
            </a:extLst>
          </p:cNvPr>
          <p:cNvGrpSpPr/>
          <p:nvPr/>
        </p:nvGrpSpPr>
        <p:grpSpPr>
          <a:xfrm>
            <a:off x="527893" y="2975021"/>
            <a:ext cx="5609787" cy="1022706"/>
            <a:chOff x="1299539" y="3018864"/>
            <a:chExt cx="4585447" cy="844413"/>
          </a:xfrm>
          <a:solidFill>
            <a:srgbClr val="182650"/>
          </a:solidFill>
        </p:grpSpPr>
        <p:sp>
          <p:nvSpPr>
            <p:cNvPr id="20" name="Rounded Rectangle 9">
              <a:extLst>
                <a:ext uri="{FF2B5EF4-FFF2-40B4-BE49-F238E27FC236}">
                  <a16:creationId xmlns:a16="http://schemas.microsoft.com/office/drawing/2014/main" id="{B7D5D21B-0B1A-8B36-B93A-C0D8AECCCBC1}"/>
                </a:ext>
              </a:extLst>
            </p:cNvPr>
            <p:cNvSpPr/>
            <p:nvPr/>
          </p:nvSpPr>
          <p:spPr>
            <a:xfrm>
              <a:off x="1299539" y="3018864"/>
              <a:ext cx="4585447" cy="844413"/>
            </a:xfrm>
            <a:prstGeom prst="roundRect">
              <a:avLst/>
            </a:prstGeom>
            <a:solidFill>
              <a:srgbClr val="BA1F34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4E713C2-C887-08FB-8D8D-6816C0980041}"/>
                </a:ext>
              </a:extLst>
            </p:cNvPr>
            <p:cNvSpPr txBox="1"/>
            <p:nvPr/>
          </p:nvSpPr>
          <p:spPr>
            <a:xfrm>
              <a:off x="1391081" y="3136126"/>
              <a:ext cx="4402361" cy="609889"/>
            </a:xfrm>
            <a:prstGeom prst="rect">
              <a:avLst/>
            </a:prstGeom>
            <a:solidFill>
              <a:srgbClr val="BA1F34"/>
            </a:solidFill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CA" sz="1400" b="1">
                  <a:solidFill>
                    <a:schemeClr val="bg1"/>
                  </a:solidFill>
                  <a:latin typeface="Montserrat"/>
                  <a:cs typeface="Calibri"/>
                </a:rPr>
                <a:t>Error Signal</a:t>
              </a:r>
              <a:br>
                <a:rPr lang="en-CA" sz="1400">
                  <a:solidFill>
                    <a:schemeClr val="bg1"/>
                  </a:solidFill>
                  <a:latin typeface="Montserrat"/>
                  <a:cs typeface="Calibri"/>
                </a:rPr>
              </a:br>
              <a:r>
                <a:rPr lang="en-CA" sz="1400">
                  <a:solidFill>
                    <a:schemeClr val="bg1"/>
                  </a:solidFill>
                  <a:latin typeface="Montserrat"/>
                  <a:cs typeface="Calibri"/>
                </a:rPr>
                <a:t>Calculated using the difference between the reference and actual gap distance.</a:t>
              </a:r>
              <a:endParaRPr lang="en-US" sz="1400">
                <a:solidFill>
                  <a:schemeClr val="bg1"/>
                </a:solidFill>
                <a:latin typeface="Montserrat"/>
                <a:cs typeface="Calibri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3F08628-D954-B02C-44EA-F6B392E58507}"/>
              </a:ext>
            </a:extLst>
          </p:cNvPr>
          <p:cNvSpPr txBox="1"/>
          <p:nvPr/>
        </p:nvSpPr>
        <p:spPr>
          <a:xfrm>
            <a:off x="13502477" y="4385957"/>
            <a:ext cx="243891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Montserrat"/>
              </a:rPr>
              <a:t>Dijkstra's Algorithm is then applied to produce the optimal route path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2F2399-FE10-E115-38CE-294F6127A8D3}"/>
              </a:ext>
            </a:extLst>
          </p:cNvPr>
          <p:cNvCxnSpPr>
            <a:cxnSpLocks/>
          </p:cNvCxnSpPr>
          <p:nvPr/>
        </p:nvCxnSpPr>
        <p:spPr>
          <a:xfrm flipV="1">
            <a:off x="13020383" y="3762277"/>
            <a:ext cx="272988" cy="567"/>
          </a:xfrm>
          <a:prstGeom prst="straightConnector1">
            <a:avLst/>
          </a:prstGeom>
          <a:ln w="28575">
            <a:solidFill>
              <a:srgbClr val="FABD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8BA60B-43F3-E264-0A55-524E31EC0854}"/>
              </a:ext>
            </a:extLst>
          </p:cNvPr>
          <p:cNvCxnSpPr>
            <a:cxnSpLocks/>
          </p:cNvCxnSpPr>
          <p:nvPr/>
        </p:nvCxnSpPr>
        <p:spPr>
          <a:xfrm flipV="1">
            <a:off x="12732428" y="2891992"/>
            <a:ext cx="272988" cy="567"/>
          </a:xfrm>
          <a:prstGeom prst="straightConnector1">
            <a:avLst/>
          </a:prstGeom>
          <a:ln w="28575">
            <a:solidFill>
              <a:srgbClr val="FABD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rved Left Arrow 54">
            <a:extLst>
              <a:ext uri="{FF2B5EF4-FFF2-40B4-BE49-F238E27FC236}">
                <a16:creationId xmlns:a16="http://schemas.microsoft.com/office/drawing/2014/main" id="{0F65E151-29F1-D3DD-2B56-30FA3601DF9B}"/>
              </a:ext>
            </a:extLst>
          </p:cNvPr>
          <p:cNvSpPr/>
          <p:nvPr/>
        </p:nvSpPr>
        <p:spPr>
          <a:xfrm>
            <a:off x="15941394" y="3669505"/>
            <a:ext cx="444680" cy="1012828"/>
          </a:xfrm>
          <a:prstGeom prst="curvedLeftArrow">
            <a:avLst/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3BBFFE6A-C540-78AD-B61D-1E4BE40ED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123" y="2922696"/>
            <a:ext cx="2779318" cy="900705"/>
          </a:xfrm>
          <a:prstGeom prst="rect">
            <a:avLst/>
          </a:prstGeom>
        </p:spPr>
      </p:pic>
      <p:pic>
        <p:nvPicPr>
          <p:cNvPr id="32" name="Picture 3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68DF234-E44B-E943-53D5-5D51F50E2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185" y="1531429"/>
            <a:ext cx="2396327" cy="898623"/>
          </a:xfrm>
          <a:prstGeom prst="rect">
            <a:avLst/>
          </a:prstGeom>
        </p:spPr>
      </p:pic>
      <p:pic>
        <p:nvPicPr>
          <p:cNvPr id="34" name="Picture 3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2CF878BC-65F4-EA8C-B91F-536418D208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" r="3564"/>
          <a:stretch/>
        </p:blipFill>
        <p:spPr>
          <a:xfrm>
            <a:off x="7140317" y="4005917"/>
            <a:ext cx="4554927" cy="1836280"/>
          </a:xfrm>
          <a:prstGeom prst="rect">
            <a:avLst/>
          </a:prstGeom>
        </p:spPr>
      </p:pic>
      <p:sp>
        <p:nvSpPr>
          <p:cNvPr id="43" name="Right Arrow 42">
            <a:extLst>
              <a:ext uri="{FF2B5EF4-FFF2-40B4-BE49-F238E27FC236}">
                <a16:creationId xmlns:a16="http://schemas.microsoft.com/office/drawing/2014/main" id="{2FF7371C-D0D6-CC74-B239-DF63FEC4B560}"/>
              </a:ext>
            </a:extLst>
          </p:cNvPr>
          <p:cNvSpPr/>
          <p:nvPr/>
        </p:nvSpPr>
        <p:spPr>
          <a:xfrm>
            <a:off x="6119279" y="3197941"/>
            <a:ext cx="1653121" cy="606292"/>
          </a:xfrm>
          <a:prstGeom prst="rightArrow">
            <a:avLst/>
          </a:prstGeom>
          <a:solidFill>
            <a:srgbClr val="BA1F34">
              <a:alpha val="468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D1A649C1-2499-C2E6-13DC-9AFC23EF3002}"/>
              </a:ext>
            </a:extLst>
          </p:cNvPr>
          <p:cNvSpPr/>
          <p:nvPr/>
        </p:nvSpPr>
        <p:spPr>
          <a:xfrm>
            <a:off x="5594052" y="1821826"/>
            <a:ext cx="2363516" cy="606292"/>
          </a:xfrm>
          <a:prstGeom prst="rightArrow">
            <a:avLst/>
          </a:prstGeom>
          <a:solidFill>
            <a:srgbClr val="FABD12">
              <a:alpha val="468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11640E8D-8E95-9191-B310-43A91C7001FB}"/>
              </a:ext>
            </a:extLst>
          </p:cNvPr>
          <p:cNvSpPr/>
          <p:nvPr/>
        </p:nvSpPr>
        <p:spPr>
          <a:xfrm>
            <a:off x="6861427" y="4537527"/>
            <a:ext cx="545213" cy="606292"/>
          </a:xfrm>
          <a:prstGeom prst="rightArrow">
            <a:avLst/>
          </a:prstGeom>
          <a:solidFill>
            <a:srgbClr val="182650">
              <a:alpha val="468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B29961-CF4D-B920-311F-0298229C79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4316BC-132E-A3E3-DFE7-0A9972F3AB6A}"/>
              </a:ext>
            </a:extLst>
          </p:cNvPr>
          <p:cNvSpPr/>
          <p:nvPr/>
        </p:nvSpPr>
        <p:spPr>
          <a:xfrm>
            <a:off x="11589678" y="6156878"/>
            <a:ext cx="288372" cy="31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9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1944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8B0027-32F4-324C-3E9B-9AE2EEAD0010}"/>
              </a:ext>
            </a:extLst>
          </p:cNvPr>
          <p:cNvSpPr txBox="1"/>
          <p:nvPr/>
        </p:nvSpPr>
        <p:spPr>
          <a:xfrm>
            <a:off x="1018168" y="501803"/>
            <a:ext cx="43829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Signal Flow Path Diagram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 panose="00000500000000000000" pitchFamily="2" charset="0"/>
              </a:rPr>
              <a:t>Closed-Loop Feedback Control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9A478490-D3B2-B765-7545-CCA35408547A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202061E-5236-BFCD-B4EC-88477CB64582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B2BFF71-9983-3498-BF01-245DFCCC2D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760515"/>
              </p:ext>
            </p:extLst>
          </p:nvPr>
        </p:nvGraphicFramePr>
        <p:xfrm>
          <a:off x="7703780" y="1864399"/>
          <a:ext cx="4002705" cy="3659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38C95CB-CB6F-BB04-94A4-77C945334B3D}"/>
              </a:ext>
            </a:extLst>
          </p:cNvPr>
          <p:cNvSpPr/>
          <p:nvPr/>
        </p:nvSpPr>
        <p:spPr>
          <a:xfrm>
            <a:off x="496756" y="2524437"/>
            <a:ext cx="6752415" cy="2999232"/>
          </a:xfrm>
          <a:prstGeom prst="roundRect">
            <a:avLst/>
          </a:prstGeom>
          <a:solidFill>
            <a:srgbClr val="FABD12"/>
          </a:solidFill>
          <a:ln>
            <a:solidFill>
              <a:srgbClr val="FAB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plant&#10;&#10;AI-generated content may be incorrect.">
            <a:extLst>
              <a:ext uri="{FF2B5EF4-FFF2-40B4-BE49-F238E27FC236}">
                <a16:creationId xmlns:a16="http://schemas.microsoft.com/office/drawing/2014/main" id="{B5FF9E8F-2907-222B-FC44-A4F6B0DD55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45" y="2913056"/>
            <a:ext cx="5971607" cy="2221993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/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D2EC04D-C587-FFE0-4B63-8CE4C06121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D05508-7601-2EC5-2E02-EFE89ACE45CE}"/>
              </a:ext>
            </a:extLst>
          </p:cNvPr>
          <p:cNvSpPr/>
          <p:nvPr/>
        </p:nvSpPr>
        <p:spPr>
          <a:xfrm>
            <a:off x="11589678" y="6156878"/>
            <a:ext cx="381928" cy="261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10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42B7ED-8C61-5D94-2A2A-E289DF0B0905}"/>
              </a:ext>
            </a:extLst>
          </p:cNvPr>
          <p:cNvSpPr txBox="1"/>
          <p:nvPr/>
        </p:nvSpPr>
        <p:spPr>
          <a:xfrm>
            <a:off x="874045" y="2055011"/>
            <a:ext cx="62741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>
                <a:latin typeface="Montserrat"/>
                <a:ea typeface="+mn-lt"/>
                <a:cs typeface="+mn-lt"/>
              </a:rPr>
              <a:t>Model of the control system using a closed-loop feedback controller</a:t>
            </a:r>
            <a:endParaRPr lang="en-US" sz="1400">
              <a:latin typeface="Montserra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71B4DA-3C1C-5C16-2EB1-2F74A42C3454}"/>
              </a:ext>
            </a:extLst>
          </p:cNvPr>
          <p:cNvCxnSpPr>
            <a:cxnSpLocks/>
          </p:cNvCxnSpPr>
          <p:nvPr/>
        </p:nvCxnSpPr>
        <p:spPr>
          <a:xfrm>
            <a:off x="1018168" y="2362788"/>
            <a:ext cx="59087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58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6ED888-3DBD-9EEC-5BA3-F93F0589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91184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CA" sz="2700">
                <a:solidFill>
                  <a:srgbClr val="FABD12"/>
                </a:solidFill>
                <a:latin typeface="Montserrat" panose="00000500000000000000" pitchFamily="2" charset="0"/>
                <a:cs typeface="Poppins" pitchFamily="2" charset="77"/>
              </a:rPr>
              <a:t>Section 5</a:t>
            </a:r>
            <a:br>
              <a:rPr lang="en-CA" sz="36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</a:br>
            <a:r>
              <a:rPr lang="en-CA" sz="72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  <a:t>Simulation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7A5898-850E-A556-4DEC-83333FE56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6049" y="439335"/>
            <a:ext cx="2944429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3F73-4924-0CFC-E256-EB36714B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37E4E6-22F2-FDB1-FCF1-3DD423F5C0D1}"/>
              </a:ext>
            </a:extLst>
          </p:cNvPr>
          <p:cNvSpPr txBox="1"/>
          <p:nvPr/>
        </p:nvSpPr>
        <p:spPr>
          <a:xfrm>
            <a:off x="1018168" y="501803"/>
            <a:ext cx="2932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Simulation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 panose="00000500000000000000" pitchFamily="2" charset="0"/>
              </a:rPr>
              <a:t>Simulink with set variables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48FFE44D-6DBB-A286-1F51-7BC039F12E46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E2D37652-766D-9097-F992-F59B6A3AD2E2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10" name="Picture 9" descr="A diagram of a mechanical system&#10;&#10;AI-generated content may be incorrect.">
            <a:extLst>
              <a:ext uri="{FF2B5EF4-FFF2-40B4-BE49-F238E27FC236}">
                <a16:creationId xmlns:a16="http://schemas.microsoft.com/office/drawing/2014/main" id="{7E9E0D2D-0269-C5A4-C2FD-1C4A0E740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065" y="2133650"/>
            <a:ext cx="7621870" cy="44022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0B4E8B4-80BC-3931-7628-843ABED656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5438DC-9F1B-21D9-C5B4-EAC10B810365}"/>
              </a:ext>
            </a:extLst>
          </p:cNvPr>
          <p:cNvSpPr/>
          <p:nvPr/>
        </p:nvSpPr>
        <p:spPr>
          <a:xfrm>
            <a:off x="11589678" y="6156878"/>
            <a:ext cx="381928" cy="261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11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C3936-F308-5644-BD79-ACB4080627E5}"/>
              </a:ext>
            </a:extLst>
          </p:cNvPr>
          <p:cNvSpPr txBox="1"/>
          <p:nvPr/>
        </p:nvSpPr>
        <p:spPr>
          <a:xfrm>
            <a:off x="2958914" y="1698195"/>
            <a:ext cx="62741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>
                <a:latin typeface="Montserrat"/>
                <a:ea typeface="+mn-lt"/>
                <a:cs typeface="+mn-lt"/>
              </a:rPr>
              <a:t>Full Simulink control system for all four electromagnets.</a:t>
            </a:r>
            <a:endParaRPr lang="en-US" sz="1400">
              <a:latin typeface="Montserra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F00A40-A670-ADA3-DAA7-E1B0DA91231A}"/>
              </a:ext>
            </a:extLst>
          </p:cNvPr>
          <p:cNvCxnSpPr>
            <a:cxnSpLocks/>
          </p:cNvCxnSpPr>
          <p:nvPr/>
        </p:nvCxnSpPr>
        <p:spPr>
          <a:xfrm>
            <a:off x="3103037" y="2005972"/>
            <a:ext cx="59087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93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67F3AC6B-2724-9E37-5E28-E19415721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87"/>
          <a:stretch/>
        </p:blipFill>
        <p:spPr>
          <a:xfrm>
            <a:off x="3119846" y="2737126"/>
            <a:ext cx="5949814" cy="27050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2A9D13-F633-C147-DC99-DC2CD9E44537}"/>
              </a:ext>
            </a:extLst>
          </p:cNvPr>
          <p:cNvSpPr txBox="1"/>
          <p:nvPr/>
        </p:nvSpPr>
        <p:spPr>
          <a:xfrm>
            <a:off x="1018168" y="501803"/>
            <a:ext cx="2669320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Control System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/>
              </a:rPr>
              <a:t>Plant</a:t>
            </a:r>
            <a:endParaRPr lang="en-CA" sz="1600" b="1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68955ECC-9AF0-723D-F1D4-40E404540A56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530739E-CD85-1490-9F8B-A8573AE68C74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8C92E1-FBE8-9552-8B9F-14F046C4E06D}"/>
              </a:ext>
            </a:extLst>
          </p:cNvPr>
          <p:cNvGrpSpPr/>
          <p:nvPr/>
        </p:nvGrpSpPr>
        <p:grpSpPr>
          <a:xfrm>
            <a:off x="184731" y="2448272"/>
            <a:ext cx="3445058" cy="1106522"/>
            <a:chOff x="-2466028" y="2482243"/>
            <a:chExt cx="5912174" cy="103605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747C9D9-487C-7596-B9F3-C17E12846B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2063" y="2861113"/>
              <a:ext cx="504083" cy="657189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66B6FE8-FA3F-7AA1-4072-113570F8C310}"/>
                </a:ext>
              </a:extLst>
            </p:cNvPr>
            <p:cNvSpPr txBox="1"/>
            <p:nvPr/>
          </p:nvSpPr>
          <p:spPr>
            <a:xfrm>
              <a:off x="-2466028" y="2482243"/>
              <a:ext cx="3953686" cy="345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>
                  <a:latin typeface="Montserrat" panose="00000500000000000000" pitchFamily="2" charset="0"/>
                </a:rPr>
                <a:t>PID Output Force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EF3F76-7FEB-C705-0A70-5665C5D095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466028" y="2842037"/>
              <a:ext cx="5408090" cy="19076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FD146F-B6DB-B7B0-08AE-0A1A360B70D5}"/>
              </a:ext>
            </a:extLst>
          </p:cNvPr>
          <p:cNvGrpSpPr/>
          <p:nvPr/>
        </p:nvGrpSpPr>
        <p:grpSpPr>
          <a:xfrm>
            <a:off x="267184" y="4946040"/>
            <a:ext cx="6137743" cy="727501"/>
            <a:chOff x="-2469937" y="2736469"/>
            <a:chExt cx="6137743" cy="72750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7DF32A9-30C3-A9B5-8B6D-A5DBF353AA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4800" y="3105801"/>
              <a:ext cx="183006" cy="357784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1DA14CE-9272-4930-238C-786AA7A4CD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465014" y="3463585"/>
              <a:ext cx="5949814" cy="385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A5BAC48-8F55-1667-2CC7-318CE7BE5A18}"/>
                </a:ext>
              </a:extLst>
            </p:cNvPr>
            <p:cNvSpPr txBox="1"/>
            <p:nvPr/>
          </p:nvSpPr>
          <p:spPr>
            <a:xfrm>
              <a:off x="-2469937" y="2736469"/>
              <a:ext cx="3445058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Montserrat" panose="00000500000000000000" pitchFamily="2" charset="0"/>
                </a:rPr>
                <a:t>Rail Vibration Model</a:t>
              </a:r>
              <a:endParaRPr lang="en-CA" b="1">
                <a:latin typeface="Montserrat" panose="00000500000000000000" pitchFamily="2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7E6EDFA-D068-5277-9EE5-1D780607A828}"/>
              </a:ext>
            </a:extLst>
          </p:cNvPr>
          <p:cNvGrpSpPr/>
          <p:nvPr/>
        </p:nvGrpSpPr>
        <p:grpSpPr>
          <a:xfrm flipH="1">
            <a:off x="6808815" y="2248474"/>
            <a:ext cx="5173919" cy="488652"/>
            <a:chOff x="-1011662" y="3460946"/>
            <a:chExt cx="5173919" cy="48865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487DB5A-D48D-C344-0B23-EB20134923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4800" y="3463585"/>
              <a:ext cx="677457" cy="486013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DBE80D7-1974-D78A-7E2C-28AF4BC388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011662" y="3460946"/>
              <a:ext cx="4496462" cy="3024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5DF98DB-C009-7A2C-5A08-6E34B879D12C}"/>
              </a:ext>
            </a:extLst>
          </p:cNvPr>
          <p:cNvSpPr txBox="1"/>
          <p:nvPr/>
        </p:nvSpPr>
        <p:spPr>
          <a:xfrm>
            <a:off x="9382836" y="1561914"/>
            <a:ext cx="2599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b="1">
                <a:latin typeface="Montserrat" panose="00000500000000000000" pitchFamily="2" charset="0"/>
              </a:rPr>
              <a:t>Electromagnet Vibration Model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9221532-1EBB-544A-1663-BAFD65D6E743}"/>
              </a:ext>
            </a:extLst>
          </p:cNvPr>
          <p:cNvGrpSpPr/>
          <p:nvPr/>
        </p:nvGrpSpPr>
        <p:grpSpPr>
          <a:xfrm flipH="1">
            <a:off x="8562213" y="3364940"/>
            <a:ext cx="3133031" cy="128120"/>
            <a:chOff x="1029226" y="3335850"/>
            <a:chExt cx="3133031" cy="12812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0128941-0E3A-59B6-E63C-AE6AE75E1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4800" y="3335850"/>
              <a:ext cx="677457" cy="127735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954DAD-500D-5185-973D-8D36FC856D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9226" y="3463970"/>
              <a:ext cx="2455574" cy="0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6BF710-0135-FC0F-C131-7989D72F0D31}"/>
              </a:ext>
            </a:extLst>
          </p:cNvPr>
          <p:cNvGrpSpPr/>
          <p:nvPr/>
        </p:nvGrpSpPr>
        <p:grpSpPr>
          <a:xfrm flipH="1">
            <a:off x="8691901" y="4802318"/>
            <a:ext cx="3133031" cy="128120"/>
            <a:chOff x="1029226" y="3335850"/>
            <a:chExt cx="3133031" cy="12812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F483105-9F03-491D-2406-B7403A8954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4800" y="3335850"/>
              <a:ext cx="677457" cy="127735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09D0B01-D105-6720-0122-C92AE47CD0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9226" y="3463970"/>
              <a:ext cx="2455574" cy="0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E208001-A35A-F03F-E174-0A54DF652A0B}"/>
              </a:ext>
            </a:extLst>
          </p:cNvPr>
          <p:cNvSpPr txBox="1"/>
          <p:nvPr/>
        </p:nvSpPr>
        <p:spPr>
          <a:xfrm>
            <a:off x="8845848" y="2803476"/>
            <a:ext cx="2599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b="1">
                <a:latin typeface="Montserrat" panose="00000500000000000000" pitchFamily="2" charset="0"/>
              </a:rPr>
              <a:t>Electromagnet Position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46ADE1-EFBB-646A-E99E-CB3686A7EEC8}"/>
              </a:ext>
            </a:extLst>
          </p:cNvPr>
          <p:cNvSpPr txBox="1"/>
          <p:nvPr/>
        </p:nvSpPr>
        <p:spPr>
          <a:xfrm>
            <a:off x="8845848" y="4248203"/>
            <a:ext cx="259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b="1">
                <a:latin typeface="Montserrat" panose="00000500000000000000" pitchFamily="2" charset="0"/>
              </a:rPr>
              <a:t>Rail Position</a:t>
            </a: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7BE45C8-11E4-5BE8-BC52-28410C692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DF5589-78FA-C131-6615-5C14EE5E1843}"/>
              </a:ext>
            </a:extLst>
          </p:cNvPr>
          <p:cNvSpPr/>
          <p:nvPr/>
        </p:nvSpPr>
        <p:spPr>
          <a:xfrm>
            <a:off x="11589678" y="6156878"/>
            <a:ext cx="381928" cy="261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12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7436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88F5B-F6AB-F69E-ACD1-E9B54DE7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E455ED60-6BB4-9A82-C478-4896455A8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357" y="1782135"/>
            <a:ext cx="5918200" cy="3632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9308A2-52EA-A6EB-F307-A58FDD88A5EF}"/>
              </a:ext>
            </a:extLst>
          </p:cNvPr>
          <p:cNvSpPr txBox="1"/>
          <p:nvPr/>
        </p:nvSpPr>
        <p:spPr>
          <a:xfrm>
            <a:off x="1018168" y="501803"/>
            <a:ext cx="2736647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Control System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/>
              </a:rPr>
              <a:t>Electromagnet Vibration</a:t>
            </a:r>
            <a:endParaRPr lang="en-CA" sz="1600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A86E4A07-62B9-8594-21D8-70B653C6709C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79E0920-B6B5-3F05-ED0D-AA17089C3CE7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A6C395-63F7-AE8F-189F-2A17CDAE7CE6}"/>
              </a:ext>
            </a:extLst>
          </p:cNvPr>
          <p:cNvGrpSpPr/>
          <p:nvPr/>
        </p:nvGrpSpPr>
        <p:grpSpPr>
          <a:xfrm>
            <a:off x="184731" y="2448271"/>
            <a:ext cx="3699115" cy="854548"/>
            <a:chOff x="-2466028" y="2482243"/>
            <a:chExt cx="6348169" cy="80013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9CD4283-95CD-06E3-BDF3-9521072DF7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2063" y="2861113"/>
              <a:ext cx="940078" cy="421261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4DC88D-945D-E1FE-0FA5-20BBAC8C6FCB}"/>
                </a:ext>
              </a:extLst>
            </p:cNvPr>
            <p:cNvSpPr txBox="1"/>
            <p:nvPr/>
          </p:nvSpPr>
          <p:spPr>
            <a:xfrm>
              <a:off x="-2466028" y="2482243"/>
              <a:ext cx="3953686" cy="345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>
                  <a:latin typeface="Montserrat" panose="00000500000000000000" pitchFamily="2" charset="0"/>
                </a:rPr>
                <a:t>PID Output Force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349A188-2AC9-E182-CC6D-E2B95B1730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466028" y="2842037"/>
              <a:ext cx="5408090" cy="19076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903BE3-EFCF-DAFF-45C6-1DB826E14DB8}"/>
              </a:ext>
            </a:extLst>
          </p:cNvPr>
          <p:cNvGrpSpPr/>
          <p:nvPr/>
        </p:nvGrpSpPr>
        <p:grpSpPr>
          <a:xfrm flipH="1">
            <a:off x="8590699" y="3839447"/>
            <a:ext cx="2948387" cy="128120"/>
            <a:chOff x="1213870" y="3335850"/>
            <a:chExt cx="2948387" cy="12812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2E07A88-1560-950F-5519-41BF5939C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4800" y="3335850"/>
              <a:ext cx="677457" cy="127735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F2EE6AA-C5FB-3E94-900F-6436310C03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13870" y="3463585"/>
              <a:ext cx="2270930" cy="385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C94444-835F-0FE6-E86C-7EC9C2AC61CB}"/>
              </a:ext>
            </a:extLst>
          </p:cNvPr>
          <p:cNvGrpSpPr/>
          <p:nvPr/>
        </p:nvGrpSpPr>
        <p:grpSpPr>
          <a:xfrm>
            <a:off x="1046003" y="1420769"/>
            <a:ext cx="3699115" cy="854548"/>
            <a:chOff x="-2466028" y="2482243"/>
            <a:chExt cx="6348169" cy="80013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78FBA6-05FB-448B-4157-2D6DBD1E82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2063" y="2861113"/>
              <a:ext cx="940078" cy="421261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4E9E51-6450-96C1-6D26-F0C8AE89F754}"/>
                </a:ext>
              </a:extLst>
            </p:cNvPr>
            <p:cNvSpPr txBox="1"/>
            <p:nvPr/>
          </p:nvSpPr>
          <p:spPr>
            <a:xfrm>
              <a:off x="-2466028" y="2482243"/>
              <a:ext cx="4523137" cy="345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>
                  <a:latin typeface="Montserrat" panose="00000500000000000000" pitchFamily="2" charset="0"/>
                </a:rPr>
                <a:t>Rail Vibration Model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0E3EA6-A863-E80F-086A-2D49C4EA37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466028" y="2842037"/>
              <a:ext cx="5408090" cy="19076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B0BE7A1-1A2E-2BF1-2E01-CA30D3DDCE11}"/>
              </a:ext>
            </a:extLst>
          </p:cNvPr>
          <p:cNvSpPr txBox="1"/>
          <p:nvPr/>
        </p:nvSpPr>
        <p:spPr>
          <a:xfrm>
            <a:off x="8790073" y="3275069"/>
            <a:ext cx="2599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b="1">
                <a:latin typeface="Montserrat" panose="00000500000000000000" pitchFamily="2" charset="0"/>
              </a:rPr>
              <a:t>Electromagnet Position</a:t>
            </a:r>
          </a:p>
        </p:txBody>
      </p:sp>
      <p:pic>
        <p:nvPicPr>
          <p:cNvPr id="23" name="Picture 2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983958A-8FF2-D1A8-5628-42E60495E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81EECCE-1229-ADB2-54DC-57439BB4D009}"/>
              </a:ext>
            </a:extLst>
          </p:cNvPr>
          <p:cNvSpPr/>
          <p:nvPr/>
        </p:nvSpPr>
        <p:spPr>
          <a:xfrm>
            <a:off x="11589678" y="6156878"/>
            <a:ext cx="381928" cy="261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13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1239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8EDE-24B7-7F42-267E-F983F331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85593905-A47B-E909-4A2D-3694EB45A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384" y="2842721"/>
            <a:ext cx="5549900" cy="2260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4DB6F0-BA9C-AAE8-FA2C-BCE61BFB9C8B}"/>
              </a:ext>
            </a:extLst>
          </p:cNvPr>
          <p:cNvSpPr txBox="1"/>
          <p:nvPr/>
        </p:nvSpPr>
        <p:spPr>
          <a:xfrm>
            <a:off x="1018168" y="501803"/>
            <a:ext cx="2736647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Control System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/>
              </a:rPr>
              <a:t>Rail Vibration</a:t>
            </a:r>
            <a:endParaRPr lang="en-CA" sz="1600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513DFAFA-C247-12BC-A67C-41F7CA31C7BB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722802C-E54B-F8D3-6057-5FEB3E99BF04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327FCF-4AD4-C254-2B70-EBE841C190FB}"/>
              </a:ext>
            </a:extLst>
          </p:cNvPr>
          <p:cNvGrpSpPr/>
          <p:nvPr/>
        </p:nvGrpSpPr>
        <p:grpSpPr>
          <a:xfrm>
            <a:off x="184731" y="2448271"/>
            <a:ext cx="3699115" cy="854548"/>
            <a:chOff x="-2466028" y="2482243"/>
            <a:chExt cx="6348169" cy="80013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076EE5-A953-015D-A58D-0B43EAEAD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2063" y="2861113"/>
              <a:ext cx="940078" cy="421261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119233-EA68-13EC-E804-A036AB309322}"/>
                </a:ext>
              </a:extLst>
            </p:cNvPr>
            <p:cNvSpPr txBox="1"/>
            <p:nvPr/>
          </p:nvSpPr>
          <p:spPr>
            <a:xfrm>
              <a:off x="-2466028" y="2482243"/>
              <a:ext cx="3953686" cy="345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>
                  <a:latin typeface="Montserrat" panose="00000500000000000000" pitchFamily="2" charset="0"/>
                </a:rPr>
                <a:t>PID Output Force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8771627-9660-9C91-B806-0124ED155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466028" y="2842037"/>
              <a:ext cx="5408090" cy="19076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316376F-23E9-EE2E-BC53-DE24E8EFD1EB}"/>
              </a:ext>
            </a:extLst>
          </p:cNvPr>
          <p:cNvGrpSpPr/>
          <p:nvPr/>
        </p:nvGrpSpPr>
        <p:grpSpPr>
          <a:xfrm flipH="1">
            <a:off x="8456023" y="3692434"/>
            <a:ext cx="3083063" cy="275133"/>
            <a:chOff x="1213870" y="3188837"/>
            <a:chExt cx="3083063" cy="27513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5D76A2E-DF7F-516F-A842-B23877209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4800" y="3188837"/>
              <a:ext cx="812133" cy="274748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3636D12-3480-E8E3-5ACD-CA2F2ADBDD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13870" y="3463585"/>
              <a:ext cx="2270930" cy="385"/>
            </a:xfrm>
            <a:prstGeom prst="line">
              <a:avLst/>
            </a:prstGeom>
            <a:ln w="19050">
              <a:solidFill>
                <a:srgbClr val="1826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AFA0803B-B736-3D1E-84A4-DC12270AED81}"/>
              </a:ext>
            </a:extLst>
          </p:cNvPr>
          <p:cNvSpPr txBox="1"/>
          <p:nvPr/>
        </p:nvSpPr>
        <p:spPr>
          <a:xfrm>
            <a:off x="8741284" y="3527371"/>
            <a:ext cx="259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b="1">
                <a:latin typeface="Montserrat" panose="00000500000000000000" pitchFamily="2" charset="0"/>
              </a:rPr>
              <a:t>Rail Position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CA147F7-0721-4EFE-0451-241EA023E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8323EB-C8C2-D2F0-7B45-A988197493FD}"/>
              </a:ext>
            </a:extLst>
          </p:cNvPr>
          <p:cNvSpPr/>
          <p:nvPr/>
        </p:nvSpPr>
        <p:spPr>
          <a:xfrm>
            <a:off x="11589678" y="6156878"/>
            <a:ext cx="381928" cy="261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14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8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6D0C1-2355-475B-A74B-E647F972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 shot of a graph&#10;&#10;AI-generated content may be incorrect.">
            <a:extLst>
              <a:ext uri="{FF2B5EF4-FFF2-40B4-BE49-F238E27FC236}">
                <a16:creationId xmlns:a16="http://schemas.microsoft.com/office/drawing/2014/main" id="{F4751BFA-1EF5-3946-2296-9A9307CC1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350" y="1780785"/>
            <a:ext cx="8550691" cy="39420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1B98F4-B9A4-C752-6FD2-3ACDA6F12C93}"/>
              </a:ext>
            </a:extLst>
          </p:cNvPr>
          <p:cNvSpPr txBox="1"/>
          <p:nvPr/>
        </p:nvSpPr>
        <p:spPr>
          <a:xfrm>
            <a:off x="1018168" y="501803"/>
            <a:ext cx="2736647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b="1">
                <a:latin typeface="Montserrat"/>
              </a:rPr>
              <a:t>Control System</a:t>
            </a:r>
            <a:br>
              <a:rPr lang="en-US" b="1">
                <a:latin typeface="Montserrat" panose="00000500000000000000" pitchFamily="2" charset="0"/>
              </a:rPr>
            </a:br>
            <a:r>
              <a:rPr lang="en-US" sz="1600">
                <a:latin typeface="Montserrat"/>
              </a:rPr>
              <a:t>Output Plot</a:t>
            </a:r>
            <a:endParaRPr lang="en-CA" sz="1600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AF354E6-6B21-B11F-7409-EDBFCA5717B7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ACF1D14-396F-57BF-23FA-098A8C733E4D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7BF40A0-CF53-0D21-2363-87C3790E1C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191300-76A5-881A-37A0-940D19699972}"/>
              </a:ext>
            </a:extLst>
          </p:cNvPr>
          <p:cNvSpPr txBox="1"/>
          <p:nvPr/>
        </p:nvSpPr>
        <p:spPr>
          <a:xfrm>
            <a:off x="670497" y="1780785"/>
            <a:ext cx="166263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b="1">
                <a:solidFill>
                  <a:srgbClr val="FABD12"/>
                </a:solidFill>
                <a:latin typeface="Montserrat" panose="00000500000000000000" pitchFamily="2" charset="0"/>
              </a:rPr>
              <a:t>Desired Gap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AFBCC-B69C-7430-DC5B-9DC4449FD22E}"/>
              </a:ext>
            </a:extLst>
          </p:cNvPr>
          <p:cNvSpPr txBox="1"/>
          <p:nvPr/>
        </p:nvSpPr>
        <p:spPr>
          <a:xfrm>
            <a:off x="1077433" y="2602606"/>
            <a:ext cx="1544958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b="1">
                <a:solidFill>
                  <a:srgbClr val="BA1F34"/>
                </a:solidFill>
                <a:latin typeface="Montserrat" panose="00000500000000000000" pitchFamily="2" charset="0"/>
              </a:rPr>
              <a:t>Oscillating Gap Distance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87E475A-1791-507A-1597-9F21ACC73786}"/>
              </a:ext>
            </a:extLst>
          </p:cNvPr>
          <p:cNvSpPr/>
          <p:nvPr/>
        </p:nvSpPr>
        <p:spPr>
          <a:xfrm>
            <a:off x="1021983" y="3372429"/>
            <a:ext cx="1653121" cy="606292"/>
          </a:xfrm>
          <a:prstGeom prst="rightArrow">
            <a:avLst/>
          </a:prstGeom>
          <a:solidFill>
            <a:srgbClr val="BA1F34">
              <a:alpha val="468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6C7F691C-6D4A-12E0-A22D-BBA34A27C042}"/>
              </a:ext>
            </a:extLst>
          </p:cNvPr>
          <p:cNvSpPr/>
          <p:nvPr/>
        </p:nvSpPr>
        <p:spPr>
          <a:xfrm>
            <a:off x="496756" y="1996314"/>
            <a:ext cx="2363516" cy="606292"/>
          </a:xfrm>
          <a:prstGeom prst="rightArrow">
            <a:avLst/>
          </a:prstGeom>
          <a:solidFill>
            <a:srgbClr val="FABD12">
              <a:alpha val="468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F57C6D-09CE-C9C7-2B13-B46BB4050B19}"/>
              </a:ext>
            </a:extLst>
          </p:cNvPr>
          <p:cNvSpPr/>
          <p:nvPr/>
        </p:nvSpPr>
        <p:spPr>
          <a:xfrm>
            <a:off x="11589678" y="6156878"/>
            <a:ext cx="381928" cy="261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Montserrat"/>
              </a:rPr>
              <a:t>15</a:t>
            </a:r>
            <a:endParaRPr lang="en-US" sz="1000" b="1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9074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398F02-5DEC-5B9F-B9F2-CDD7EE010F3F}"/>
              </a:ext>
            </a:extLst>
          </p:cNvPr>
          <p:cNvSpPr txBox="1"/>
          <p:nvPr/>
        </p:nvSpPr>
        <p:spPr>
          <a:xfrm>
            <a:off x="1018168" y="501803"/>
            <a:ext cx="30444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Next Steps</a:t>
            </a:r>
          </a:p>
          <a:p>
            <a:r>
              <a:rPr lang="en-US" sz="1600">
                <a:latin typeface="Montserrat" panose="00000500000000000000" pitchFamily="2" charset="0"/>
              </a:rPr>
              <a:t>Future Plans and Scalability</a:t>
            </a:r>
            <a:endParaRPr lang="en-CA" sz="1600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D75D3FE-808A-3D0D-45C6-CAAFFBED96BC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31C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248C642E-C378-8781-6B77-FAE9B65836DE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31C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92F4DC-9A28-FE3E-4449-09ECD699F83E}"/>
              </a:ext>
            </a:extLst>
          </p:cNvPr>
          <p:cNvSpPr/>
          <p:nvPr/>
        </p:nvSpPr>
        <p:spPr>
          <a:xfrm>
            <a:off x="11382928" y="6043881"/>
            <a:ext cx="312316" cy="312316"/>
          </a:xfrm>
          <a:prstGeom prst="rect">
            <a:avLst/>
          </a:prstGeom>
          <a:solidFill>
            <a:srgbClr val="001E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800" b="1">
                <a:latin typeface="Montserrat"/>
              </a:rPr>
              <a:t>22</a:t>
            </a:r>
            <a:endParaRPr lang="en-US" sz="800" b="1">
              <a:latin typeface="Montserrat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931A0-8C35-AF0A-CD7A-5890BF8A1D25}"/>
              </a:ext>
            </a:extLst>
          </p:cNvPr>
          <p:cNvSpPr/>
          <p:nvPr/>
        </p:nvSpPr>
        <p:spPr>
          <a:xfrm>
            <a:off x="1605450" y="5149640"/>
            <a:ext cx="2996705" cy="894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Montserrat"/>
              </a:rPr>
              <a:t>Finish prototype summer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Montserrat"/>
              </a:rPr>
              <a:t>Full scale implementation 2025 to 2027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3EAB2F-F331-A88A-AFD3-A2BDD75F416A}"/>
              </a:ext>
            </a:extLst>
          </p:cNvPr>
          <p:cNvSpPr/>
          <p:nvPr/>
        </p:nvSpPr>
        <p:spPr>
          <a:xfrm>
            <a:off x="1605450" y="4834520"/>
            <a:ext cx="2996705" cy="295578"/>
          </a:xfrm>
          <a:prstGeom prst="rect">
            <a:avLst/>
          </a:prstGeom>
          <a:solidFill>
            <a:srgbClr val="BA1F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solidFill>
                  <a:schemeClr val="bg1"/>
                </a:solidFill>
                <a:latin typeface="Montserrat" panose="00000500000000000000" pitchFamily="2" charset="0"/>
              </a:rPr>
              <a:t>Immediate Future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E219AF79-1F9A-0943-91F5-42520EB72B13}"/>
              </a:ext>
            </a:extLst>
          </p:cNvPr>
          <p:cNvSpPr/>
          <p:nvPr/>
        </p:nvSpPr>
        <p:spPr>
          <a:xfrm>
            <a:off x="4706862" y="3096477"/>
            <a:ext cx="159830" cy="665046"/>
          </a:xfrm>
          <a:prstGeom prst="chevron">
            <a:avLst/>
          </a:prstGeom>
          <a:solidFill>
            <a:srgbClr val="BA1F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E6007E-239E-F4D3-5A79-C4FBCCAFB03D}"/>
              </a:ext>
            </a:extLst>
          </p:cNvPr>
          <p:cNvSpPr/>
          <p:nvPr/>
        </p:nvSpPr>
        <p:spPr>
          <a:xfrm>
            <a:off x="1605450" y="1614116"/>
            <a:ext cx="2996705" cy="3220404"/>
          </a:xfrm>
          <a:prstGeom prst="rect">
            <a:avLst/>
          </a:prstGeom>
          <a:noFill/>
          <a:ln>
            <a:solidFill>
              <a:srgbClr val="BA1F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517884-449B-0378-36D4-7724C88AB4B2}"/>
              </a:ext>
            </a:extLst>
          </p:cNvPr>
          <p:cNvSpPr/>
          <p:nvPr/>
        </p:nvSpPr>
        <p:spPr>
          <a:xfrm>
            <a:off x="1605451" y="1585419"/>
            <a:ext cx="2996704" cy="319359"/>
          </a:xfrm>
          <a:prstGeom prst="rect">
            <a:avLst/>
          </a:prstGeom>
          <a:solidFill>
            <a:srgbClr val="BA1F34"/>
          </a:solidFill>
          <a:ln>
            <a:solidFill>
              <a:srgbClr val="BA1F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>
                <a:latin typeface="Montserrat" panose="00000500000000000000" pitchFamily="2" charset="0"/>
              </a:rPr>
              <a:t>Future Plans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4C2464-F606-1D44-230D-C24ABBEE5844}"/>
              </a:ext>
            </a:extLst>
          </p:cNvPr>
          <p:cNvSpPr txBox="1"/>
          <p:nvPr/>
        </p:nvSpPr>
        <p:spPr>
          <a:xfrm>
            <a:off x="1500743" y="2904280"/>
            <a:ext cx="2996705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Montserrat" panose="00000500000000000000" pitchFamily="2" charset="0"/>
              </a:rPr>
              <a:t>Further development of this framework allows for the creation of a mag lev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Montserrat" panose="00000500000000000000" pitchFamily="2" charset="0"/>
              </a:rPr>
              <a:t>Additional future research will allow for the team to fully integrate mag lev alongside the LIM</a:t>
            </a:r>
          </a:p>
          <a:p>
            <a:endParaRPr lang="en-CA" sz="1400">
              <a:latin typeface="Montserrat" panose="00000500000000000000" pitchFamily="2" charset="0"/>
            </a:endParaRPr>
          </a:p>
        </p:txBody>
      </p:sp>
      <p:pic>
        <p:nvPicPr>
          <p:cNvPr id="23" name="Picture 2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3FB0199-8129-6B13-B479-85F30CF96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8D7F87-3F00-617E-A1C9-85AED59E33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55" t="6980" r="2368" b="4271"/>
          <a:stretch/>
        </p:blipFill>
        <p:spPr>
          <a:xfrm>
            <a:off x="6096000" y="1897396"/>
            <a:ext cx="4655391" cy="2878275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/>
        </p:spPr>
      </p:pic>
      <p:pic>
        <p:nvPicPr>
          <p:cNvPr id="8" name="Graphic 7" descr="Ruler with solid fill">
            <a:extLst>
              <a:ext uri="{FF2B5EF4-FFF2-40B4-BE49-F238E27FC236}">
                <a16:creationId xmlns:a16="http://schemas.microsoft.com/office/drawing/2014/main" id="{119DA383-D020-177B-84B9-898054C1FB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7279" y="5608924"/>
            <a:ext cx="523106" cy="523106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AABF1EC6-A7AA-295F-30F0-62E705738BCB}"/>
              </a:ext>
            </a:extLst>
          </p:cNvPr>
          <p:cNvSpPr/>
          <p:nvPr/>
        </p:nvSpPr>
        <p:spPr>
          <a:xfrm>
            <a:off x="6463218" y="5130098"/>
            <a:ext cx="719459" cy="719459"/>
          </a:xfrm>
          <a:prstGeom prst="ellipse">
            <a:avLst/>
          </a:prstGeom>
          <a:solidFill>
            <a:srgbClr val="001F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4" name="Graphic 23" descr="Ruler with solid fill">
            <a:extLst>
              <a:ext uri="{FF2B5EF4-FFF2-40B4-BE49-F238E27FC236}">
                <a16:creationId xmlns:a16="http://schemas.microsoft.com/office/drawing/2014/main" id="{F7CDC526-4F29-2F38-8020-241236F01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1394" y="5207058"/>
            <a:ext cx="523106" cy="52310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FA0B26C-0AB2-8448-C5C3-B991901EC252}"/>
              </a:ext>
            </a:extLst>
          </p:cNvPr>
          <p:cNvSpPr txBox="1"/>
          <p:nvPr/>
        </p:nvSpPr>
        <p:spPr>
          <a:xfrm>
            <a:off x="7252408" y="5166661"/>
            <a:ext cx="358266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Montserrat"/>
                <a:cs typeface="Calibri"/>
              </a:rPr>
              <a:t>1:20 Scale of QHDT’s hyperloop pod</a:t>
            </a:r>
            <a:endParaRPr lang="en-US" sz="1800">
              <a:latin typeface="Montserrat"/>
              <a:cs typeface="Calibri"/>
            </a:endParaRPr>
          </a:p>
        </p:txBody>
      </p:sp>
      <p:pic>
        <p:nvPicPr>
          <p:cNvPr id="29" name="Graphic 28" descr="Train with solid fill">
            <a:extLst>
              <a:ext uri="{FF2B5EF4-FFF2-40B4-BE49-F238E27FC236}">
                <a16:creationId xmlns:a16="http://schemas.microsoft.com/office/drawing/2014/main" id="{A61530E6-B213-F3C4-7D99-A902D05364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2869" y="2083596"/>
            <a:ext cx="641866" cy="6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8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140E5E-27AA-C54A-BBCE-7E9B189A1076}"/>
              </a:ext>
            </a:extLst>
          </p:cNvPr>
          <p:cNvSpPr/>
          <p:nvPr/>
        </p:nvSpPr>
        <p:spPr>
          <a:xfrm>
            <a:off x="0" y="-14964"/>
            <a:ext cx="12192000" cy="6858000"/>
          </a:xfrm>
          <a:prstGeom prst="rect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899ABC-6297-3708-414D-6EB35DAE5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598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en-CA" sz="36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</a:br>
            <a:r>
              <a:rPr lang="en-CA" sz="8000" b="1">
                <a:solidFill>
                  <a:srgbClr val="FABD12"/>
                </a:solidFill>
                <a:latin typeface="Montserrat ExtraBold" panose="00000900000000000000" pitchFamily="2" charset="0"/>
                <a:cs typeface="Poppins" pitchFamily="2" charset="77"/>
              </a:rPr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478BA-162C-B3B2-45A8-8BAF5A0C9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6049" y="439335"/>
            <a:ext cx="2944429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4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B3A7D3-6630-7115-DFF7-2ACCBF7B570F}"/>
              </a:ext>
            </a:extLst>
          </p:cNvPr>
          <p:cNvSpPr txBox="1"/>
          <p:nvPr/>
        </p:nvSpPr>
        <p:spPr>
          <a:xfrm>
            <a:off x="1018168" y="501803"/>
            <a:ext cx="23471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Montserrat" panose="00000500000000000000" pitchFamily="2" charset="0"/>
              </a:rPr>
              <a:t>Bibliography</a:t>
            </a:r>
          </a:p>
          <a:p>
            <a:r>
              <a:rPr lang="en-US" sz="1600">
                <a:latin typeface="Montserrat" panose="00000500000000000000" pitchFamily="2" charset="0"/>
              </a:rPr>
              <a:t>Citations &amp; Sources</a:t>
            </a:r>
            <a:endParaRPr lang="en-CA" sz="1600">
              <a:latin typeface="Montserrat" panose="00000500000000000000" pitchFamily="2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627F6782-AFE4-DDD7-63E2-51A8BA77E878}"/>
              </a:ext>
            </a:extLst>
          </p:cNvPr>
          <p:cNvSpPr/>
          <p:nvPr/>
        </p:nvSpPr>
        <p:spPr>
          <a:xfrm>
            <a:off x="496756" y="556026"/>
            <a:ext cx="340902" cy="599440"/>
          </a:xfrm>
          <a:prstGeom prst="chevron">
            <a:avLst/>
          </a:prstGeom>
          <a:solidFill>
            <a:srgbClr val="182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40B8F42-76BA-31FF-99AC-759A8050EB6C}"/>
              </a:ext>
            </a:extLst>
          </p:cNvPr>
          <p:cNvSpPr/>
          <p:nvPr/>
        </p:nvSpPr>
        <p:spPr>
          <a:xfrm>
            <a:off x="727377" y="556026"/>
            <a:ext cx="230621" cy="599440"/>
          </a:xfrm>
          <a:prstGeom prst="chevron">
            <a:avLst>
              <a:gd name="adj" fmla="val 69104"/>
            </a:avLst>
          </a:prstGeom>
          <a:solidFill>
            <a:srgbClr val="FAB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6" name="Picture 5" descr="A close-up of a document&#10;&#10;AI-generated content may be incorrect.">
            <a:extLst>
              <a:ext uri="{FF2B5EF4-FFF2-40B4-BE49-F238E27FC236}">
                <a16:creationId xmlns:a16="http://schemas.microsoft.com/office/drawing/2014/main" id="{F0DEFD80-0737-0016-9C38-822BEDEF1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8" y="1525220"/>
            <a:ext cx="8601320" cy="2233203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A36E487-CE20-9CCE-52E4-2C2992DB6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84" y="439335"/>
            <a:ext cx="2953960" cy="10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7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1A72ED4997CC499E2D44DCAC55DA88" ma:contentTypeVersion="12" ma:contentTypeDescription="Create a new document." ma:contentTypeScope="" ma:versionID="15ae7e5298d408c42c969941c1005e6c">
  <xsd:schema xmlns:xsd="http://www.w3.org/2001/XMLSchema" xmlns:xs="http://www.w3.org/2001/XMLSchema" xmlns:p="http://schemas.microsoft.com/office/2006/metadata/properties" xmlns:ns2="73343e46-5c67-4e36-8ada-f744770f5879" xmlns:ns3="f563b97a-1477-4f1a-83f9-2120ca9e2b93" targetNamespace="http://schemas.microsoft.com/office/2006/metadata/properties" ma:root="true" ma:fieldsID="2fe9445dc638ebafdc3aab13dac475c6" ns2:_="" ns3:_="">
    <xsd:import namespace="73343e46-5c67-4e36-8ada-f744770f5879"/>
    <xsd:import namespace="f563b97a-1477-4f1a-83f9-2120ca9e2b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43e46-5c67-4e36-8ada-f744770f58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bd2e69d-a885-47d9-a849-8bc90acf94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63b97a-1477-4f1a-83f9-2120ca9e2b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31d06c-a960-450c-bdc4-cfc334e28f60}" ma:internalName="TaxCatchAll" ma:showField="CatchAllData" ma:web="f563b97a-1477-4f1a-83f9-2120ca9e2b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343e46-5c67-4e36-8ada-f744770f5879">
      <Terms xmlns="http://schemas.microsoft.com/office/infopath/2007/PartnerControls"/>
    </lcf76f155ced4ddcb4097134ff3c332f>
    <TaxCatchAll xmlns="f563b97a-1477-4f1a-83f9-2120ca9e2b93" xsi:nil="true"/>
  </documentManagement>
</p:properties>
</file>

<file path=customXml/itemProps1.xml><?xml version="1.0" encoding="utf-8"?>
<ds:datastoreItem xmlns:ds="http://schemas.openxmlformats.org/officeDocument/2006/customXml" ds:itemID="{C0421CC0-B609-4714-8CED-BC4F274DBD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257264-DCA9-4D12-BF7D-32A24AFAFA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343e46-5c67-4e36-8ada-f744770f5879"/>
    <ds:schemaRef ds:uri="f563b97a-1477-4f1a-83f9-2120ca9e2b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526ADD-0350-4844-BE7E-4C0121884E85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f563b97a-1477-4f1a-83f9-2120ca9e2b93"/>
    <ds:schemaRef ds:uri="73343e46-5c67-4e36-8ada-f744770f5879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1479</Words>
  <Application>Microsoft Macintosh PowerPoint</Application>
  <PresentationFormat>Widescreen</PresentationFormat>
  <Paragraphs>297</Paragraphs>
  <Slides>32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Montserrat</vt:lpstr>
      <vt:lpstr>Montserrat ExtraBold</vt:lpstr>
      <vt:lpstr>Poppins</vt:lpstr>
      <vt:lpstr>Wingdings</vt:lpstr>
      <vt:lpstr>Wingdings,Sans-Serif</vt:lpstr>
      <vt:lpstr>Office Theme</vt:lpstr>
      <vt:lpstr>PowerPoint Presentation</vt:lpstr>
      <vt:lpstr>PowerPoint Presentation</vt:lpstr>
      <vt:lpstr>PowerPoint Presentation</vt:lpstr>
      <vt:lpstr>Section 1 The Problem</vt:lpstr>
      <vt:lpstr>PowerPoint Presentation</vt:lpstr>
      <vt:lpstr>PowerPoint Presentation</vt:lpstr>
      <vt:lpstr>Section 2 Solution Breakdown</vt:lpstr>
      <vt:lpstr>PowerPoint Presentation</vt:lpstr>
      <vt:lpstr>Section 3 Mechanical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Section 4 Control System</vt:lpstr>
      <vt:lpstr>PowerPoint Presentation</vt:lpstr>
      <vt:lpstr>PowerPoint Presentation</vt:lpstr>
      <vt:lpstr>Section 5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Thank You!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 OF WORKSHOP</dc:title>
  <dc:creator>Corey Ko</dc:creator>
  <cp:lastModifiedBy>Melissa Choloniuk</cp:lastModifiedBy>
  <cp:revision>2</cp:revision>
  <dcterms:created xsi:type="dcterms:W3CDTF">2021-06-23T16:16:15Z</dcterms:created>
  <dcterms:modified xsi:type="dcterms:W3CDTF">2025-07-03T01:11:00Z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0x010100371A72ED4997CC499E2D44DCAC55DA88</vt:lpwstr>
  </property>
  <property fmtid="{D5CDD505-2E9C-101B-9397-08002B2CF9AE}" pid="3" name="MediaServiceImageTags">
    <vt:lpwstr/>
  </property>
</Properties>
</file>